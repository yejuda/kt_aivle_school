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77" r:id="rId3"/>
    <p:sldId id="263" r:id="rId4"/>
    <p:sldId id="276" r:id="rId5"/>
    <p:sldId id="279" r:id="rId6"/>
    <p:sldId id="262" r:id="rId7"/>
  </p:sldIdLst>
  <p:sldSz cx="18288000" cy="10287000"/>
  <p:notesSz cx="6858000" cy="9144000"/>
  <p:embeddedFontLst>
    <p:embeddedFont>
      <p:font typeface="맑은 고딕" panose="020B0503020000020004" pitchFamily="34" charset="-127"/>
      <p:regular r:id="rId8"/>
      <p:bold r:id="rId9"/>
    </p:embeddedFont>
    <p:embeddedFont>
      <p:font typeface="Pretendard Medium" panose="020B0604020202020204" charset="-127"/>
      <p:bold r:id="rId10"/>
    </p:embeddedFont>
    <p:embeddedFont>
      <p:font typeface="Pretendard SemiBold" panose="020B0604020202020204" charset="-127"/>
      <p:bold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0B51"/>
    <a:srgbClr val="4A5BA3"/>
    <a:srgbClr val="0007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AC6874-A827-02BB-5EAB-DB18BAD15A98}" v="711" dt="2024-11-15T04:38:43.776"/>
    <p1510:client id="{6B98600E-FA31-B0B0-CDF0-F3E866071FEF}" v="78" dt="2024-11-15T06:06:03.623"/>
    <p1510:client id="{71396E79-9AB2-2EE6-0147-5F67E9F57B6C}" v="1721" dt="2024-11-15T03:21:38.810"/>
    <p1510:client id="{E9D8B5E3-863E-1DFC-5065-9B4CCF78E0C3}" v="1004" dt="2024-11-15T06:11:32.866"/>
    <p1510:client id="{F1B2DB51-BE2D-0637-C1E4-DCEB499E382B}" v="1" dt="2024-11-15T02:01:17.7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3.jpe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11" Type="http://schemas.openxmlformats.org/officeDocument/2006/relationships/image" Target="../media/image11.png"/><Relationship Id="rId5" Type="http://schemas.openxmlformats.org/officeDocument/2006/relationships/image" Target="../media/image6.png"/><Relationship Id="rId10" Type="http://schemas.openxmlformats.org/officeDocument/2006/relationships/image" Target="../media/image3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4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3.png"/><Relationship Id="rId2" Type="http://schemas.openxmlformats.org/officeDocument/2006/relationships/image" Target="../media/image1.png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jpe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3" Type="http://schemas.openxmlformats.org/officeDocument/2006/relationships/image" Target="../media/image4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3.png"/><Relationship Id="rId9" Type="http://schemas.openxmlformats.org/officeDocument/2006/relationships/image" Target="../media/image3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jpeg"/><Relationship Id="rId3" Type="http://schemas.openxmlformats.org/officeDocument/2006/relationships/image" Target="../media/image4.png"/><Relationship Id="rId7" Type="http://schemas.openxmlformats.org/officeDocument/2006/relationships/image" Target="../media/image3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jpeg"/><Relationship Id="rId5" Type="http://schemas.openxmlformats.org/officeDocument/2006/relationships/image" Target="../media/image36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5143500"/>
            <a:ext cx="18300700" cy="5168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" y="571500"/>
            <a:ext cx="17043400" cy="9144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01700" y="419100"/>
            <a:ext cx="2832100" cy="14986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3995400" y="787400"/>
            <a:ext cx="2044700" cy="647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7899"/>
              </a:lnSpc>
            </a:pPr>
            <a:r>
              <a:rPr lang="ko-KR" sz="1900" b="0" i="0" u="none" strike="noStrike" spc="100">
                <a:solidFill>
                  <a:srgbClr val="FFFFFF"/>
                </a:solidFill>
                <a:ea typeface="Pretendard Medium"/>
              </a:rPr>
              <a:t>미니프로젝트</a:t>
            </a:r>
          </a:p>
          <a:p>
            <a:pPr lvl="0" algn="ctr">
              <a:lnSpc>
                <a:spcPct val="107899"/>
              </a:lnSpc>
            </a:pPr>
            <a:r>
              <a:rPr lang="en-US" sz="1900" b="0" i="0" u="none" strike="noStrike" spc="100">
                <a:solidFill>
                  <a:srgbClr val="FFFFFF"/>
                </a:solidFill>
                <a:latin typeface="Pretendard Medium"/>
              </a:rPr>
              <a:t>6</a:t>
            </a:r>
            <a:r>
              <a:rPr lang="ko-KR" sz="1900" b="0" i="0" u="none" strike="noStrike" spc="100">
                <a:solidFill>
                  <a:srgbClr val="FFFFFF"/>
                </a:solidFill>
                <a:ea typeface="Pretendard Medium"/>
              </a:rPr>
              <a:t>차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968500" y="7785100"/>
            <a:ext cx="7772400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r>
              <a:rPr lang="en-US" sz="3000">
                <a:solidFill>
                  <a:srgbClr val="00074E"/>
                </a:solidFill>
                <a:latin typeface="Pretendard SemiBold"/>
                <a:ea typeface="+mn-lt"/>
                <a:cs typeface="+mn-lt"/>
              </a:rPr>
              <a:t>AI</a:t>
            </a:r>
            <a:r>
              <a:rPr lang="ko-KR" altLang="en-US" sz="3000">
                <a:solidFill>
                  <a:srgbClr val="00074E"/>
                </a:solidFill>
                <a:latin typeface="Pretendard SemiBold"/>
                <a:ea typeface="Pretendard SemiBold"/>
                <a:cs typeface="+mn-lt"/>
              </a:rPr>
              <a:t>트랙</a:t>
            </a:r>
            <a:r>
              <a:rPr lang="en-US" sz="3000">
                <a:solidFill>
                  <a:srgbClr val="00074E"/>
                </a:solidFill>
                <a:latin typeface="Pretendard SemiBold"/>
                <a:ea typeface="+mn-lt"/>
                <a:cs typeface="+mn-lt"/>
              </a:rPr>
              <a:t> </a:t>
            </a:r>
            <a:r>
              <a:rPr lang="en-US" sz="3000" b="0" i="0" u="none" strike="noStrike">
                <a:solidFill>
                  <a:srgbClr val="00074E"/>
                </a:solidFill>
                <a:latin typeface="Pretendard SemiBold"/>
                <a:ea typeface="+mn-lt"/>
                <a:cs typeface="+mn-lt"/>
              </a:rPr>
              <a:t>3</a:t>
            </a:r>
            <a:r>
              <a:rPr lang="ko-KR" sz="3000" b="0" i="0" u="none" strike="noStrike">
                <a:solidFill>
                  <a:srgbClr val="00074E"/>
                </a:solidFill>
                <a:latin typeface="Pretendard SemiBold"/>
                <a:ea typeface="Pretendard SemiBold"/>
                <a:cs typeface="+mn-lt"/>
              </a:rPr>
              <a:t>반</a:t>
            </a:r>
            <a:r>
              <a:rPr lang="en-US" sz="3000" b="0" i="0" u="none" strike="noStrike">
                <a:solidFill>
                  <a:srgbClr val="00074E"/>
                </a:solidFill>
                <a:latin typeface="Pretendard SemiBold"/>
                <a:ea typeface="+mn-lt"/>
                <a:cs typeface="+mn-lt"/>
              </a:rPr>
              <a:t> 9</a:t>
            </a:r>
            <a:r>
              <a:rPr lang="ko-KR" sz="3000" b="0" i="0" u="none" strike="noStrike">
                <a:solidFill>
                  <a:srgbClr val="00074E"/>
                </a:solidFill>
                <a:latin typeface="Pretendard SemiBold"/>
                <a:ea typeface="Pretendard SemiBold"/>
                <a:cs typeface="+mn-lt"/>
              </a:rPr>
              <a:t>조</a:t>
            </a:r>
            <a:endParaRPr lang="ko-KR" altLang="en-US" sz="3000">
              <a:solidFill>
                <a:srgbClr val="000000"/>
              </a:solidFill>
              <a:latin typeface="Pretendard SemiBold"/>
              <a:ea typeface="Pretendard SemiBold"/>
              <a:cs typeface="+mn-lt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816100" y="3098800"/>
            <a:ext cx="10401300" cy="3175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1300"/>
              </a:lnSpc>
            </a:pPr>
            <a:r>
              <a:rPr lang="ko-KR" sz="10000" b="0" i="0" u="none" strike="noStrike">
                <a:solidFill>
                  <a:srgbClr val="00074E"/>
                </a:solidFill>
                <a:ea typeface="Pretendard SemiBold"/>
              </a:rPr>
              <a:t>시계열</a:t>
            </a:r>
            <a:r>
              <a:rPr lang="en-US" sz="10000" b="0" i="0" u="none" strike="noStrike">
                <a:solidFill>
                  <a:srgbClr val="00074E"/>
                </a:solidFill>
                <a:latin typeface="Pretendard SemiBold"/>
              </a:rPr>
              <a:t> </a:t>
            </a:r>
            <a:r>
              <a:rPr lang="ko-KR" sz="10000" b="0" i="0" u="none" strike="noStrike">
                <a:solidFill>
                  <a:srgbClr val="00074E"/>
                </a:solidFill>
                <a:ea typeface="Pretendard SemiBold"/>
              </a:rPr>
              <a:t>데이터</a:t>
            </a:r>
            <a:r>
              <a:rPr lang="en-US" sz="10000" b="0" i="0" u="none" strike="noStrike">
                <a:solidFill>
                  <a:srgbClr val="00074E"/>
                </a:solidFill>
                <a:latin typeface="Pretendard SemiBold"/>
              </a:rPr>
              <a:t> </a:t>
            </a:r>
            <a:r>
              <a:rPr lang="ko-KR" sz="10000" b="0" i="0" u="none" strike="noStrike">
                <a:solidFill>
                  <a:srgbClr val="00074E"/>
                </a:solidFill>
                <a:ea typeface="Pretendard SemiBold"/>
              </a:rPr>
              <a:t>기반</a:t>
            </a:r>
            <a:r>
              <a:rPr lang="en-US" sz="10000" b="0" i="0" u="none" strike="noStrike">
                <a:solidFill>
                  <a:srgbClr val="00074E"/>
                </a:solidFill>
                <a:latin typeface="Pretendard SemiBold"/>
              </a:rPr>
              <a:t> </a:t>
            </a:r>
            <a:r>
              <a:rPr lang="ko-KR" sz="10000" b="0" i="0" u="none" strike="noStrike">
                <a:solidFill>
                  <a:srgbClr val="00074E"/>
                </a:solidFill>
                <a:ea typeface="Pretendard SemiBold"/>
              </a:rPr>
              <a:t>상품</a:t>
            </a:r>
            <a:r>
              <a:rPr lang="en-US" sz="10000" b="0" i="0" u="none" strike="noStrike">
                <a:solidFill>
                  <a:srgbClr val="00074E"/>
                </a:solidFill>
                <a:latin typeface="Pretendard SemiBold"/>
              </a:rPr>
              <a:t> </a:t>
            </a:r>
            <a:r>
              <a:rPr lang="ko-KR" sz="10000" b="0" i="0" u="none" strike="noStrike">
                <a:solidFill>
                  <a:srgbClr val="00074E"/>
                </a:solidFill>
                <a:ea typeface="Pretendard SemiBold"/>
              </a:rPr>
              <a:t>판매량</a:t>
            </a:r>
            <a:r>
              <a:rPr lang="en-US" sz="10000" b="0" i="0" u="none" strike="noStrike">
                <a:solidFill>
                  <a:srgbClr val="00074E"/>
                </a:solidFill>
                <a:latin typeface="Pretendard SemiBold"/>
              </a:rPr>
              <a:t> </a:t>
            </a:r>
            <a:r>
              <a:rPr lang="ko-KR" sz="10000" b="0" i="0" u="none" strike="noStrike">
                <a:solidFill>
                  <a:srgbClr val="00074E"/>
                </a:solidFill>
                <a:ea typeface="Pretendard SemiBold"/>
              </a:rPr>
              <a:t>예측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993900" y="8470900"/>
            <a:ext cx="95377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2900" b="0" i="0" u="none" strike="noStrike">
                <a:solidFill>
                  <a:srgbClr val="8F9CD1"/>
                </a:solidFill>
                <a:ea typeface="Pretendard SemiBold"/>
              </a:rPr>
              <a:t>김기태</a:t>
            </a:r>
            <a:r>
              <a:rPr lang="en-US" sz="2900" b="0" i="0" u="none" strike="noStrike">
                <a:solidFill>
                  <a:srgbClr val="8F9CD1"/>
                </a:solidFill>
                <a:latin typeface="Pretendard SemiBold"/>
              </a:rPr>
              <a:t>, </a:t>
            </a:r>
            <a:r>
              <a:rPr lang="ko-KR" sz="2900" b="0" i="0" u="none" strike="noStrike">
                <a:solidFill>
                  <a:srgbClr val="8F9CD1"/>
                </a:solidFill>
                <a:ea typeface="Pretendard SemiBold"/>
              </a:rPr>
              <a:t>김선우</a:t>
            </a:r>
            <a:r>
              <a:rPr lang="en-US" sz="2900" b="0" i="0" u="none" strike="noStrike">
                <a:solidFill>
                  <a:srgbClr val="8F9CD1"/>
                </a:solidFill>
                <a:latin typeface="Pretendard SemiBold"/>
              </a:rPr>
              <a:t>, </a:t>
            </a:r>
            <a:r>
              <a:rPr lang="ko-KR" sz="2900" b="0" i="0" u="none" strike="noStrike">
                <a:solidFill>
                  <a:srgbClr val="8F9CD1"/>
                </a:solidFill>
                <a:ea typeface="Pretendard SemiBold"/>
              </a:rPr>
              <a:t>김우현</a:t>
            </a:r>
            <a:r>
              <a:rPr lang="en-US" sz="2900" b="0" i="0" u="none" strike="noStrike">
                <a:solidFill>
                  <a:srgbClr val="8F9CD1"/>
                </a:solidFill>
                <a:latin typeface="Pretendard SemiBold"/>
              </a:rPr>
              <a:t>, </a:t>
            </a:r>
            <a:r>
              <a:rPr lang="ko-KR" sz="2900" b="0" i="0" u="none" strike="noStrike">
                <a:solidFill>
                  <a:srgbClr val="8F9CD1"/>
                </a:solidFill>
                <a:ea typeface="Pretendard SemiBold"/>
              </a:rPr>
              <a:t>김준영</a:t>
            </a:r>
            <a:r>
              <a:rPr lang="en-US" sz="2900" b="0" i="0" u="none" strike="noStrike">
                <a:solidFill>
                  <a:srgbClr val="8F9CD1"/>
                </a:solidFill>
                <a:latin typeface="Pretendard SemiBold"/>
              </a:rPr>
              <a:t>, </a:t>
            </a:r>
            <a:r>
              <a:rPr lang="ko-KR" sz="2900" b="0" i="0" u="none" strike="noStrike">
                <a:solidFill>
                  <a:srgbClr val="8F9CD1"/>
                </a:solidFill>
                <a:ea typeface="Pretendard SemiBold"/>
              </a:rPr>
              <a:t>김진규</a:t>
            </a:r>
            <a:r>
              <a:rPr lang="en-US" sz="2900" b="0" i="0" u="none" strike="noStrike">
                <a:solidFill>
                  <a:srgbClr val="8F9CD1"/>
                </a:solidFill>
                <a:latin typeface="Pretendard SemiBold"/>
              </a:rPr>
              <a:t>, </a:t>
            </a:r>
            <a:r>
              <a:rPr lang="ko-KR" sz="2900" b="0" i="0" u="none" strike="noStrike">
                <a:solidFill>
                  <a:srgbClr val="8F9CD1"/>
                </a:solidFill>
                <a:ea typeface="Pretendard SemiBold"/>
              </a:rPr>
              <a:t>성연서</a:t>
            </a:r>
            <a:r>
              <a:rPr lang="en-US" sz="2900" b="0" i="0" u="none" strike="noStrike">
                <a:solidFill>
                  <a:srgbClr val="8F9CD1"/>
                </a:solidFill>
                <a:latin typeface="Pretendard SemiBold"/>
              </a:rPr>
              <a:t>, </a:t>
            </a:r>
            <a:r>
              <a:rPr lang="ko-KR" sz="2900" b="0" i="0" u="none" strike="noStrike">
                <a:solidFill>
                  <a:srgbClr val="8F9CD1"/>
                </a:solidFill>
                <a:ea typeface="Pretendard SemiBold"/>
              </a:rPr>
              <a:t>신광훈</a:t>
            </a:r>
            <a:r>
              <a:rPr lang="en-US" sz="2900" b="0" i="0" u="none" strike="noStrike">
                <a:solidFill>
                  <a:srgbClr val="8F9CD1"/>
                </a:solidFill>
                <a:latin typeface="Pretendard SemiBold"/>
              </a:rPr>
              <a:t>, </a:t>
            </a:r>
            <a:r>
              <a:rPr lang="ko-KR" sz="2900" b="0" i="0" u="none" strike="noStrike">
                <a:solidFill>
                  <a:srgbClr val="8F9CD1"/>
                </a:solidFill>
                <a:ea typeface="Pretendard SemiBold"/>
              </a:rPr>
              <a:t>이예주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5143500"/>
            <a:ext cx="18300700" cy="5168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" y="581797"/>
            <a:ext cx="17043400" cy="91567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511300" y="787400"/>
            <a:ext cx="2044700" cy="647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7899"/>
              </a:lnSpc>
            </a:pPr>
            <a:r>
              <a:rPr lang="en-US" sz="1900" b="0" i="0" u="none" strike="noStrike" spc="100">
                <a:solidFill>
                  <a:srgbClr val="FFFFFF"/>
                </a:solidFill>
                <a:latin typeface="Pretendard Medium"/>
              </a:rPr>
              <a:t>Chapter</a:t>
            </a:r>
          </a:p>
          <a:p>
            <a:pPr lvl="0" algn="ctr">
              <a:lnSpc>
                <a:spcPct val="107899"/>
              </a:lnSpc>
            </a:pPr>
            <a:r>
              <a:rPr lang="en-US" sz="1900" spc="100">
                <a:solidFill>
                  <a:srgbClr val="FFFFFF"/>
                </a:solidFill>
                <a:latin typeface="Pretendard Medium"/>
              </a:rPr>
              <a:t>01</a:t>
            </a:r>
            <a:endParaRPr lang="en-US" sz="1900" b="0" i="0" u="none" strike="noStrike" spc="100">
              <a:solidFill>
                <a:srgbClr val="FFFFFF"/>
              </a:solidFill>
              <a:latin typeface="Pretendard Medium"/>
              <a:ea typeface="Pretendard Medium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C9EF72-8C3C-A5D3-DF91-48FFD0B20CC8}"/>
              </a:ext>
            </a:extLst>
          </p:cNvPr>
          <p:cNvSpPr txBox="1"/>
          <p:nvPr/>
        </p:nvSpPr>
        <p:spPr>
          <a:xfrm>
            <a:off x="5762609" y="6084402"/>
            <a:ext cx="2796789" cy="1246474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indent="-342900">
              <a:lnSpc>
                <a:spcPct val="99600"/>
              </a:lnSpc>
              <a:buFont typeface="Arial"/>
              <a:buChar char="•"/>
            </a:pPr>
            <a:r>
              <a:rPr lang="en-US" altLang="ko-KR" err="1">
                <a:solidFill>
                  <a:srgbClr val="00074E"/>
                </a:solidFill>
                <a:ea typeface="Pretendard SemiBold"/>
                <a:cs typeface="Calibri"/>
              </a:rPr>
              <a:t>판매</a:t>
            </a:r>
            <a:r>
              <a:rPr lang="en-US" altLang="ko-KR">
                <a:solidFill>
                  <a:srgbClr val="00074E"/>
                </a:solidFill>
                <a:ea typeface="Pretendard SemiBold"/>
                <a:cs typeface="Calibri"/>
              </a:rPr>
              <a:t> </a:t>
            </a:r>
            <a:r>
              <a:rPr lang="en-US" altLang="ko-KR" err="1">
                <a:solidFill>
                  <a:srgbClr val="00074E"/>
                </a:solidFill>
                <a:ea typeface="Pretendard SemiBold"/>
                <a:cs typeface="Calibri"/>
              </a:rPr>
              <a:t>기회</a:t>
            </a:r>
            <a:r>
              <a:rPr lang="en-US" altLang="ko-KR">
                <a:solidFill>
                  <a:srgbClr val="00074E"/>
                </a:solidFill>
                <a:ea typeface="Pretendard SemiBold"/>
                <a:cs typeface="Calibri"/>
              </a:rPr>
              <a:t> </a:t>
            </a:r>
            <a:r>
              <a:rPr lang="en-US" altLang="ko-KR" err="1">
                <a:solidFill>
                  <a:srgbClr val="00074E"/>
                </a:solidFill>
                <a:ea typeface="Pretendard SemiBold"/>
                <a:cs typeface="Calibri"/>
              </a:rPr>
              <a:t>손실</a:t>
            </a:r>
            <a:endParaRPr lang="en-US" altLang="ko-KR">
              <a:solidFill>
                <a:srgbClr val="00074E"/>
              </a:solidFill>
              <a:ea typeface="Pretendard SemiBold"/>
              <a:cs typeface="Calibri"/>
            </a:endParaRPr>
          </a:p>
          <a:p>
            <a:pPr marL="342900" indent="-342900">
              <a:lnSpc>
                <a:spcPct val="99600"/>
              </a:lnSpc>
              <a:buFont typeface="Arial"/>
              <a:buChar char="•"/>
            </a:pPr>
            <a:r>
              <a:rPr lang="en-US" altLang="ko-KR" err="1">
                <a:solidFill>
                  <a:srgbClr val="00074E"/>
                </a:solidFill>
                <a:ea typeface="Pretendard SemiBold"/>
                <a:cs typeface="Calibri"/>
              </a:rPr>
              <a:t>브랜드</a:t>
            </a:r>
            <a:r>
              <a:rPr lang="en-US" altLang="ko-KR">
                <a:solidFill>
                  <a:srgbClr val="00074E"/>
                </a:solidFill>
                <a:ea typeface="Pretendard SemiBold"/>
                <a:cs typeface="Calibri"/>
              </a:rPr>
              <a:t> </a:t>
            </a:r>
            <a:r>
              <a:rPr lang="en-US" altLang="ko-KR" err="1">
                <a:solidFill>
                  <a:srgbClr val="00074E"/>
                </a:solidFill>
                <a:ea typeface="Pretendard SemiBold"/>
                <a:cs typeface="Calibri"/>
              </a:rPr>
              <a:t>이미지</a:t>
            </a:r>
            <a:r>
              <a:rPr lang="en-US" altLang="ko-KR">
                <a:solidFill>
                  <a:srgbClr val="00074E"/>
                </a:solidFill>
                <a:ea typeface="Pretendard SemiBold"/>
                <a:cs typeface="Calibri"/>
              </a:rPr>
              <a:t> </a:t>
            </a:r>
            <a:r>
              <a:rPr lang="en-US" altLang="ko-KR" err="1">
                <a:solidFill>
                  <a:srgbClr val="00074E"/>
                </a:solidFill>
                <a:ea typeface="Pretendard SemiBold"/>
                <a:cs typeface="Calibri"/>
              </a:rPr>
              <a:t>손상</a:t>
            </a:r>
            <a:endParaRPr lang="en-US" altLang="ko-KR">
              <a:solidFill>
                <a:srgbClr val="00074E"/>
              </a:solidFill>
              <a:ea typeface="Pretendard SemiBold"/>
              <a:cs typeface="Calibri"/>
            </a:endParaRPr>
          </a:p>
          <a:p>
            <a:pPr marL="342900" indent="-342900">
              <a:lnSpc>
                <a:spcPct val="99600"/>
              </a:lnSpc>
              <a:buFont typeface="Arial"/>
              <a:buChar char="•"/>
            </a:pPr>
            <a:r>
              <a:rPr lang="en-US" altLang="ko-KR" err="1">
                <a:solidFill>
                  <a:srgbClr val="00074E"/>
                </a:solidFill>
                <a:ea typeface="Pretendard SemiBold"/>
                <a:cs typeface="Calibri"/>
              </a:rPr>
              <a:t>고객</a:t>
            </a:r>
            <a:r>
              <a:rPr lang="en-US" altLang="ko-KR">
                <a:solidFill>
                  <a:srgbClr val="00074E"/>
                </a:solidFill>
                <a:ea typeface="Pretendard SemiBold"/>
                <a:cs typeface="Calibri"/>
              </a:rPr>
              <a:t> </a:t>
            </a:r>
            <a:r>
              <a:rPr lang="en-US" altLang="ko-KR" err="1">
                <a:solidFill>
                  <a:srgbClr val="00074E"/>
                </a:solidFill>
                <a:ea typeface="Pretendard SemiBold"/>
                <a:cs typeface="Calibri"/>
              </a:rPr>
              <a:t>불만</a:t>
            </a:r>
            <a:r>
              <a:rPr lang="en-US" altLang="ko-KR">
                <a:solidFill>
                  <a:srgbClr val="00074E"/>
                </a:solidFill>
                <a:ea typeface="Pretendard SemiBold"/>
                <a:cs typeface="Calibri"/>
              </a:rPr>
              <a:t> </a:t>
            </a:r>
            <a:r>
              <a:rPr lang="en-US" altLang="ko-KR" err="1">
                <a:solidFill>
                  <a:srgbClr val="00074E"/>
                </a:solidFill>
                <a:ea typeface="Pretendard SemiBold"/>
                <a:cs typeface="Calibri"/>
              </a:rPr>
              <a:t>유발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DEFEFD5A-A382-E16C-2BFA-EF00DA52E8D3}"/>
              </a:ext>
            </a:extLst>
          </p:cNvPr>
          <p:cNvGrpSpPr/>
          <p:nvPr/>
        </p:nvGrpSpPr>
        <p:grpSpPr>
          <a:xfrm>
            <a:off x="5524140" y="3229490"/>
            <a:ext cx="3016699" cy="2118058"/>
            <a:chOff x="10028442" y="3419782"/>
            <a:chExt cx="4720405" cy="2912807"/>
          </a:xfrm>
        </p:grpSpPr>
        <p:pic>
          <p:nvPicPr>
            <p:cNvPr id="16" name="그림 15" descr="복합 재료, 스틸, 알루미늄, 라인이(가) 표시된 사진&#10;&#10;자동 생성된 설명">
              <a:extLst>
                <a:ext uri="{FF2B5EF4-FFF2-40B4-BE49-F238E27FC236}">
                  <a16:creationId xmlns:a16="http://schemas.microsoft.com/office/drawing/2014/main" id="{FC08C85D-322D-19D5-D61C-74C7A1D2479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028442" y="3419782"/>
              <a:ext cx="4720405" cy="2912807"/>
            </a:xfrm>
            <a:prstGeom prst="rect">
              <a:avLst/>
            </a:prstGeom>
          </p:spPr>
        </p:pic>
        <p:pic>
          <p:nvPicPr>
            <p:cNvPr id="17" name="그림 16" descr="텍스트, 폰트, 그래픽, 레드이(가) 표시된 사진&#10;&#10;자동 생성된 설명">
              <a:extLst>
                <a:ext uri="{FF2B5EF4-FFF2-40B4-BE49-F238E27FC236}">
                  <a16:creationId xmlns:a16="http://schemas.microsoft.com/office/drawing/2014/main" id="{A2407D31-FF44-7575-96F8-2A22B852373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240000">
              <a:off x="12066258" y="5272252"/>
              <a:ext cx="2399812" cy="766919"/>
            </a:xfrm>
            <a:prstGeom prst="rect">
              <a:avLst/>
            </a:prstGeom>
          </p:spPr>
        </p:pic>
      </p:grp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6F0F9BAE-80AD-E665-A368-FEE25A015D15}"/>
              </a:ext>
            </a:extLst>
          </p:cNvPr>
          <p:cNvSpPr/>
          <p:nvPr/>
        </p:nvSpPr>
        <p:spPr>
          <a:xfrm>
            <a:off x="5101477" y="3026172"/>
            <a:ext cx="3861548" cy="4903739"/>
          </a:xfrm>
          <a:prstGeom prst="roundRect">
            <a:avLst/>
          </a:prstGeom>
          <a:noFill/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4A91931-DDC8-FCC3-3C22-F29EFB851BC1}"/>
              </a:ext>
            </a:extLst>
          </p:cNvPr>
          <p:cNvSpPr txBox="1"/>
          <p:nvPr/>
        </p:nvSpPr>
        <p:spPr>
          <a:xfrm>
            <a:off x="5100427" y="2256613"/>
            <a:ext cx="4311136" cy="977111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ct val="99600"/>
              </a:lnSpc>
            </a:pPr>
            <a:r>
              <a:rPr lang="en-US" altLang="ko-KR" sz="2000">
                <a:solidFill>
                  <a:srgbClr val="00074E"/>
                </a:solidFill>
                <a:ea typeface="Pretendard SemiBold"/>
                <a:cs typeface="Calibri"/>
              </a:rPr>
              <a:t>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57F2263-0783-BA39-EA86-C28622AC07E7}"/>
              </a:ext>
            </a:extLst>
          </p:cNvPr>
          <p:cNvSpPr txBox="1"/>
          <p:nvPr/>
        </p:nvSpPr>
        <p:spPr>
          <a:xfrm>
            <a:off x="811603" y="2441965"/>
            <a:ext cx="4033110" cy="571908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ct val="99600"/>
              </a:lnSpc>
            </a:pPr>
            <a:r>
              <a:rPr lang="en-US" altLang="ko-KR" sz="2000" err="1">
                <a:solidFill>
                  <a:srgbClr val="00074E"/>
                </a:solidFill>
                <a:ea typeface="Pretendard SemiBold"/>
                <a:cs typeface="Calibri"/>
              </a:rPr>
              <a:t>재고</a:t>
            </a:r>
            <a:r>
              <a:rPr lang="en-US" altLang="ko-KR" sz="2000">
                <a:solidFill>
                  <a:srgbClr val="00074E"/>
                </a:solidFill>
                <a:ea typeface="Pretendard SemiBold"/>
                <a:cs typeface="Calibri"/>
              </a:rPr>
              <a:t> </a:t>
            </a:r>
            <a:r>
              <a:rPr lang="en-US" altLang="ko-KR" sz="2000" err="1">
                <a:solidFill>
                  <a:srgbClr val="00074E"/>
                </a:solidFill>
                <a:ea typeface="Pretendard SemiBold"/>
                <a:cs typeface="Calibri"/>
              </a:rPr>
              <a:t>과잉</a:t>
            </a:r>
            <a:r>
              <a:rPr lang="en-US" altLang="ko-KR" sz="2000">
                <a:solidFill>
                  <a:srgbClr val="00074E"/>
                </a:solidFill>
                <a:ea typeface="Pretendard SemiBold"/>
                <a:cs typeface="Calibri"/>
              </a:rPr>
              <a:t> </a:t>
            </a:r>
            <a:r>
              <a:rPr lang="en-US" altLang="ko-KR" sz="2000" err="1">
                <a:solidFill>
                  <a:srgbClr val="00074E"/>
                </a:solidFill>
                <a:ea typeface="Pretendard SemiBold"/>
                <a:cs typeface="Calibri"/>
              </a:rPr>
              <a:t>문제</a:t>
            </a:r>
            <a:r>
              <a:rPr lang="en-US" altLang="ko-KR" sz="2000">
                <a:solidFill>
                  <a:srgbClr val="00074E"/>
                </a:solidFill>
                <a:ea typeface="Pretendard SemiBold"/>
                <a:cs typeface="Calibri"/>
              </a:rPr>
              <a:t> 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D4D2B679-FCA1-5F2A-221E-BC34E0174214}"/>
              </a:ext>
            </a:extLst>
          </p:cNvPr>
          <p:cNvSpPr/>
          <p:nvPr/>
        </p:nvSpPr>
        <p:spPr>
          <a:xfrm>
            <a:off x="810711" y="3023608"/>
            <a:ext cx="4033376" cy="4906306"/>
          </a:xfrm>
          <a:prstGeom prst="roundRect">
            <a:avLst/>
          </a:prstGeom>
          <a:noFill/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0" name="그림 29" descr="건물, 표지판, 야외, 레드이(가) 표시된 사진&#10;&#10;자동 생성된 설명">
            <a:extLst>
              <a:ext uri="{FF2B5EF4-FFF2-40B4-BE49-F238E27FC236}">
                <a16:creationId xmlns:a16="http://schemas.microsoft.com/office/drawing/2014/main" id="{2A8EC0F2-AE59-E6F5-68BD-A42E461DCA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4648" y="3238283"/>
            <a:ext cx="3224479" cy="209291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5D012338-00D5-093E-2075-DFA75FBD0AE2}"/>
              </a:ext>
            </a:extLst>
          </p:cNvPr>
          <p:cNvSpPr txBox="1"/>
          <p:nvPr/>
        </p:nvSpPr>
        <p:spPr>
          <a:xfrm>
            <a:off x="1374446" y="6225730"/>
            <a:ext cx="3042885" cy="99038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indent="-342900">
              <a:lnSpc>
                <a:spcPct val="99600"/>
              </a:lnSpc>
              <a:buFont typeface="Arial"/>
              <a:buChar char="•"/>
            </a:pPr>
            <a:r>
              <a:rPr lang="en-US" altLang="ko-KR" err="1">
                <a:solidFill>
                  <a:srgbClr val="00074E"/>
                </a:solidFill>
                <a:ea typeface="Pretendard SemiBold"/>
                <a:cs typeface="Calibri"/>
              </a:rPr>
              <a:t>자금</a:t>
            </a:r>
            <a:r>
              <a:rPr lang="en-US" altLang="ko-KR">
                <a:solidFill>
                  <a:srgbClr val="00074E"/>
                </a:solidFill>
                <a:ea typeface="Pretendard SemiBold"/>
                <a:cs typeface="Calibri"/>
              </a:rPr>
              <a:t> </a:t>
            </a:r>
            <a:r>
              <a:rPr lang="en-US" altLang="ko-KR" err="1">
                <a:solidFill>
                  <a:srgbClr val="00074E"/>
                </a:solidFill>
                <a:ea typeface="Pretendard SemiBold"/>
                <a:cs typeface="Calibri"/>
              </a:rPr>
              <a:t>흐름</a:t>
            </a:r>
            <a:r>
              <a:rPr lang="en-US" altLang="ko-KR">
                <a:solidFill>
                  <a:srgbClr val="00074E"/>
                </a:solidFill>
                <a:ea typeface="Pretendard SemiBold"/>
                <a:cs typeface="Calibri"/>
              </a:rPr>
              <a:t> </a:t>
            </a:r>
            <a:r>
              <a:rPr lang="en-US" altLang="ko-KR" err="1">
                <a:solidFill>
                  <a:srgbClr val="00074E"/>
                </a:solidFill>
                <a:ea typeface="Pretendard SemiBold"/>
                <a:cs typeface="Calibri"/>
              </a:rPr>
              <a:t>문제</a:t>
            </a:r>
            <a:endParaRPr lang="en-US" altLang="ko-KR">
              <a:solidFill>
                <a:srgbClr val="00074E"/>
              </a:solidFill>
              <a:ea typeface="Pretendard SemiBold"/>
              <a:cs typeface="Calibri"/>
            </a:endParaRPr>
          </a:p>
          <a:p>
            <a:pPr marL="342900" indent="-342900">
              <a:lnSpc>
                <a:spcPct val="99600"/>
              </a:lnSpc>
              <a:buFont typeface="Arial"/>
              <a:buChar char="•"/>
            </a:pPr>
            <a:r>
              <a:rPr lang="en-US" altLang="ko-KR" err="1">
                <a:solidFill>
                  <a:srgbClr val="00074E"/>
                </a:solidFill>
                <a:ea typeface="Pretendard SemiBold"/>
                <a:cs typeface="Calibri"/>
              </a:rPr>
              <a:t>공간</a:t>
            </a:r>
            <a:r>
              <a:rPr lang="en-US" altLang="ko-KR">
                <a:solidFill>
                  <a:srgbClr val="00074E"/>
                </a:solidFill>
                <a:ea typeface="Pretendard SemiBold"/>
                <a:cs typeface="Calibri"/>
              </a:rPr>
              <a:t> </a:t>
            </a:r>
            <a:r>
              <a:rPr lang="en-US" altLang="ko-KR" err="1">
                <a:solidFill>
                  <a:srgbClr val="00074E"/>
                </a:solidFill>
                <a:ea typeface="Pretendard SemiBold"/>
                <a:cs typeface="Calibri"/>
              </a:rPr>
              <a:t>부족</a:t>
            </a:r>
            <a:endParaRPr lang="en-US" altLang="ko-KR">
              <a:solidFill>
                <a:srgbClr val="00074E"/>
              </a:solidFill>
              <a:ea typeface="Pretendard SemiBold"/>
              <a:cs typeface="Calibri"/>
            </a:endParaRPr>
          </a:p>
          <a:p>
            <a:pPr marL="342900" indent="-342900">
              <a:lnSpc>
                <a:spcPct val="99600"/>
              </a:lnSpc>
              <a:buFont typeface="Arial"/>
              <a:buChar char="•"/>
            </a:pPr>
            <a:r>
              <a:rPr lang="en-US" altLang="ko-KR" err="1">
                <a:solidFill>
                  <a:srgbClr val="00074E"/>
                </a:solidFill>
                <a:ea typeface="Pretendard SemiBold"/>
                <a:cs typeface="Calibri"/>
              </a:rPr>
              <a:t>관리비용</a:t>
            </a:r>
            <a:r>
              <a:rPr lang="en-US" altLang="ko-KR">
                <a:solidFill>
                  <a:srgbClr val="00074E"/>
                </a:solidFill>
                <a:ea typeface="Pretendard SemiBold"/>
                <a:cs typeface="Calibri"/>
              </a:rPr>
              <a:t> </a:t>
            </a:r>
            <a:r>
              <a:rPr lang="en-US" altLang="ko-KR" err="1">
                <a:solidFill>
                  <a:srgbClr val="00074E"/>
                </a:solidFill>
                <a:ea typeface="Pretendard SemiBold"/>
                <a:cs typeface="Calibri"/>
              </a:rPr>
              <a:t>증가</a:t>
            </a:r>
          </a:p>
        </p:txBody>
      </p:sp>
      <p:sp>
        <p:nvSpPr>
          <p:cNvPr id="34" name="TextBox 14">
            <a:extLst>
              <a:ext uri="{FF2B5EF4-FFF2-40B4-BE49-F238E27FC236}">
                <a16:creationId xmlns:a16="http://schemas.microsoft.com/office/drawing/2014/main" id="{1B9F919C-EA25-DCCD-0207-525774C66130}"/>
              </a:ext>
            </a:extLst>
          </p:cNvPr>
          <p:cNvSpPr txBox="1"/>
          <p:nvPr/>
        </p:nvSpPr>
        <p:spPr>
          <a:xfrm>
            <a:off x="4684191" y="789187"/>
            <a:ext cx="922936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ct val="99600"/>
              </a:lnSpc>
            </a:pPr>
            <a:r>
              <a:rPr lang="ko-KR" sz="5500">
                <a:solidFill>
                  <a:srgbClr val="00074E"/>
                </a:solidFill>
                <a:ea typeface="Pretendard SemiBold"/>
              </a:rPr>
              <a:t>비즈니스 상황 분석 </a:t>
            </a:r>
            <a:r>
              <a:rPr lang="ko-KR" altLang="en-US" sz="5500">
                <a:solidFill>
                  <a:srgbClr val="00074E"/>
                </a:solidFill>
                <a:ea typeface="Pretendard SemiBold"/>
              </a:rPr>
              <a:t>및</a:t>
            </a:r>
            <a:r>
              <a:rPr lang="ko-KR" sz="5500">
                <a:solidFill>
                  <a:srgbClr val="00074E"/>
                </a:solidFill>
                <a:ea typeface="Pretendard SemiBold"/>
              </a:rPr>
              <a:t> </a:t>
            </a:r>
            <a:r>
              <a:rPr lang="ko-KR" altLang="en-US" sz="5500">
                <a:solidFill>
                  <a:srgbClr val="00074E"/>
                </a:solidFill>
                <a:ea typeface="Pretendard SemiBold"/>
              </a:rPr>
              <a:t>목표</a:t>
            </a:r>
            <a:endParaRPr lang="ko-KR" altLang="en-US" sz="5500" b="0" i="0" u="none" strike="noStrike">
              <a:solidFill>
                <a:srgbClr val="00074E"/>
              </a:solidFill>
              <a:ea typeface="Pretendard SemiBold"/>
              <a:cs typeface="Calibri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E0C5636-3CE4-D561-9CDF-E390C6590F16}"/>
              </a:ext>
            </a:extLst>
          </p:cNvPr>
          <p:cNvSpPr txBox="1"/>
          <p:nvPr/>
        </p:nvSpPr>
        <p:spPr>
          <a:xfrm>
            <a:off x="832198" y="8105480"/>
            <a:ext cx="74930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ct val="99600"/>
              </a:lnSpc>
            </a:pPr>
            <a:r>
              <a:rPr lang="en-US" sz="2400">
                <a:solidFill>
                  <a:srgbClr val="00074E"/>
                </a:solidFill>
                <a:ea typeface="Pretendard SemiBold"/>
                <a:cs typeface="Calibri"/>
              </a:rPr>
              <a:t>AI </a:t>
            </a:r>
            <a:r>
              <a:rPr lang="ko-KR" altLang="en-US" sz="2400">
                <a:solidFill>
                  <a:srgbClr val="00074E"/>
                </a:solidFill>
                <a:ea typeface="Pretendard SemiBold"/>
                <a:cs typeface="Calibri"/>
              </a:rPr>
              <a:t>기반</a:t>
            </a:r>
            <a:r>
              <a:rPr lang="en-US" sz="2400">
                <a:solidFill>
                  <a:srgbClr val="00074E"/>
                </a:solidFill>
                <a:ea typeface="Pretendard SemiBold"/>
                <a:cs typeface="Calibri"/>
              </a:rPr>
              <a:t> </a:t>
            </a:r>
            <a:r>
              <a:rPr lang="ko-KR" altLang="en-US" sz="2400">
                <a:solidFill>
                  <a:srgbClr val="00074E"/>
                </a:solidFill>
                <a:ea typeface="Pretendard SemiBold"/>
                <a:cs typeface="Calibri"/>
              </a:rPr>
              <a:t>수요량 예측 시스템 도입 필요</a:t>
            </a:r>
            <a:endParaRPr lang="en-US" altLang="ko-KR" sz="2400">
              <a:solidFill>
                <a:srgbClr val="00074E"/>
              </a:solidFill>
              <a:ea typeface="Pretendard SemiBold"/>
              <a:cs typeface="Calibri"/>
            </a:endParaRPr>
          </a:p>
        </p:txBody>
      </p:sp>
      <p:sp>
        <p:nvSpPr>
          <p:cNvPr id="37" name="화살표: 오른쪽 36">
            <a:extLst>
              <a:ext uri="{FF2B5EF4-FFF2-40B4-BE49-F238E27FC236}">
                <a16:creationId xmlns:a16="http://schemas.microsoft.com/office/drawing/2014/main" id="{18EB4D68-F21E-7727-C302-6B4F0D760299}"/>
              </a:ext>
            </a:extLst>
          </p:cNvPr>
          <p:cNvSpPr/>
          <p:nvPr/>
        </p:nvSpPr>
        <p:spPr>
          <a:xfrm>
            <a:off x="1377845" y="8423522"/>
            <a:ext cx="520013" cy="354094"/>
          </a:xfrm>
          <a:prstGeom prst="rightArrow">
            <a:avLst/>
          </a:prstGeom>
          <a:solidFill>
            <a:srgbClr val="4A5BA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7B46D2B6-A4B7-AA1D-E5FF-2D6606B94BDC}"/>
              </a:ext>
            </a:extLst>
          </p:cNvPr>
          <p:cNvSpPr/>
          <p:nvPr/>
        </p:nvSpPr>
        <p:spPr>
          <a:xfrm flipH="1">
            <a:off x="9263310" y="2252581"/>
            <a:ext cx="35553" cy="6168661"/>
          </a:xfrm>
          <a:prstGeom prst="rect">
            <a:avLst/>
          </a:prstGeom>
          <a:ln>
            <a:solidFill>
              <a:srgbClr val="0007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A68D407-1A49-592C-4B39-DE00D91155F1}"/>
              </a:ext>
            </a:extLst>
          </p:cNvPr>
          <p:cNvSpPr txBox="1"/>
          <p:nvPr/>
        </p:nvSpPr>
        <p:spPr>
          <a:xfrm>
            <a:off x="5023198" y="2452262"/>
            <a:ext cx="4033110" cy="571908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ct val="99600"/>
              </a:lnSpc>
            </a:pPr>
            <a:r>
              <a:rPr lang="en-US" sz="2000" err="1">
                <a:solidFill>
                  <a:srgbClr val="00074E"/>
                </a:solidFill>
                <a:ea typeface="Pretendard SemiBold"/>
                <a:cs typeface="Calibri"/>
              </a:rPr>
              <a:t>재고</a:t>
            </a:r>
            <a:r>
              <a:rPr lang="en-US" sz="2000">
                <a:solidFill>
                  <a:srgbClr val="00074E"/>
                </a:solidFill>
                <a:ea typeface="Pretendard SemiBold"/>
                <a:cs typeface="Calibri"/>
              </a:rPr>
              <a:t> </a:t>
            </a:r>
            <a:r>
              <a:rPr lang="en-US" sz="2000" err="1">
                <a:solidFill>
                  <a:srgbClr val="00074E"/>
                </a:solidFill>
                <a:ea typeface="Pretendard SemiBold"/>
                <a:cs typeface="Calibri"/>
              </a:rPr>
              <a:t>부족</a:t>
            </a:r>
            <a:r>
              <a:rPr lang="en-US" sz="2000">
                <a:solidFill>
                  <a:srgbClr val="00074E"/>
                </a:solidFill>
                <a:ea typeface="Pretendard SemiBold"/>
                <a:cs typeface="Calibri"/>
              </a:rPr>
              <a:t> </a:t>
            </a:r>
            <a:r>
              <a:rPr lang="en-US" sz="2000" err="1">
                <a:solidFill>
                  <a:srgbClr val="00074E"/>
                </a:solidFill>
                <a:ea typeface="Pretendard SemiBold"/>
                <a:cs typeface="Calibri"/>
              </a:rPr>
              <a:t>문제</a:t>
            </a:r>
            <a:r>
              <a:rPr lang="en-US" altLang="ko-KR" sz="2000">
                <a:solidFill>
                  <a:srgbClr val="00074E"/>
                </a:solidFill>
                <a:ea typeface="Pretendard SemiBold"/>
                <a:cs typeface="Calibri"/>
              </a:rPr>
              <a:t> </a:t>
            </a:r>
            <a:endParaRPr lang="ko-KR" altLang="en-US"/>
          </a:p>
        </p:txBody>
      </p:sp>
      <p:pic>
        <p:nvPicPr>
          <p:cNvPr id="43" name="그림 42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623D4D93-1BE3-97F2-14B1-DC2D9BCC4F0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94557" y="2421750"/>
            <a:ext cx="3364900" cy="1085593"/>
          </a:xfrm>
          <a:prstGeom prst="rect">
            <a:avLst/>
          </a:prstGeom>
        </p:spPr>
      </p:pic>
      <p:sp>
        <p:nvSpPr>
          <p:cNvPr id="45" name="TextBox 8">
            <a:extLst>
              <a:ext uri="{FF2B5EF4-FFF2-40B4-BE49-F238E27FC236}">
                <a16:creationId xmlns:a16="http://schemas.microsoft.com/office/drawing/2014/main" id="{ED6840E8-F0D6-D64F-FBB7-08FF7EC2584C}"/>
              </a:ext>
            </a:extLst>
          </p:cNvPr>
          <p:cNvSpPr txBox="1"/>
          <p:nvPr/>
        </p:nvSpPr>
        <p:spPr>
          <a:xfrm>
            <a:off x="9407611" y="2104036"/>
            <a:ext cx="19304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ct val="99600"/>
              </a:lnSpc>
            </a:pPr>
            <a:r>
              <a:rPr lang="ko-KR" altLang="en-US">
                <a:solidFill>
                  <a:srgbClr val="00074E"/>
                </a:solidFill>
                <a:ea typeface="Pretendard Medium"/>
              </a:rPr>
              <a:t> </a:t>
            </a:r>
            <a:r>
              <a:rPr lang="ko-KR" altLang="en-US" err="1">
                <a:solidFill>
                  <a:srgbClr val="00074E"/>
                </a:solidFill>
                <a:ea typeface="Pretendard Medium"/>
              </a:rPr>
              <a:t>products</a:t>
            </a:r>
            <a:endParaRPr lang="ko-KR" altLang="en-US" sz="1800" b="0" i="0" u="none" strike="noStrike" err="1">
              <a:solidFill>
                <a:srgbClr val="00074E"/>
              </a:solidFill>
              <a:latin typeface="Calibri"/>
              <a:ea typeface="Pretendard Medium"/>
              <a:cs typeface="Calibri"/>
            </a:endParaRPr>
          </a:p>
        </p:txBody>
      </p:sp>
      <p:pic>
        <p:nvPicPr>
          <p:cNvPr id="46" name="그림 45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C82F473A-041D-0D2B-BAA6-46584919465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475043" y="2377472"/>
            <a:ext cx="1857375" cy="1647825"/>
          </a:xfrm>
          <a:prstGeom prst="rect">
            <a:avLst/>
          </a:prstGeom>
        </p:spPr>
      </p:pic>
      <p:sp>
        <p:nvSpPr>
          <p:cNvPr id="47" name="TextBox 8">
            <a:extLst>
              <a:ext uri="{FF2B5EF4-FFF2-40B4-BE49-F238E27FC236}">
                <a16:creationId xmlns:a16="http://schemas.microsoft.com/office/drawing/2014/main" id="{B14F55BC-26CF-3510-F556-73A11BF2173F}"/>
              </a:ext>
            </a:extLst>
          </p:cNvPr>
          <p:cNvSpPr txBox="1"/>
          <p:nvPr/>
        </p:nvSpPr>
        <p:spPr>
          <a:xfrm>
            <a:off x="12939585" y="2062847"/>
            <a:ext cx="19304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ct val="99600"/>
              </a:lnSpc>
            </a:pPr>
            <a:r>
              <a:rPr lang="ko-KR" altLang="en-US">
                <a:solidFill>
                  <a:srgbClr val="00074E"/>
                </a:solidFill>
                <a:ea typeface="Pretendard Medium"/>
              </a:rPr>
              <a:t> </a:t>
            </a:r>
            <a:r>
              <a:rPr lang="ko-KR" altLang="en-US" err="1">
                <a:solidFill>
                  <a:srgbClr val="00074E"/>
                </a:solidFill>
                <a:ea typeface="Pretendard Medium"/>
              </a:rPr>
              <a:t>oil_price</a:t>
            </a:r>
            <a:endParaRPr lang="ko-KR" altLang="en-US" sz="1800" b="0" i="0" u="none" strike="noStrike" err="1">
              <a:solidFill>
                <a:srgbClr val="00074E"/>
              </a:solidFill>
              <a:latin typeface="Calibri"/>
              <a:ea typeface="Pretendard Medium"/>
              <a:cs typeface="Calibri"/>
            </a:endParaRPr>
          </a:p>
        </p:txBody>
      </p:sp>
      <p:pic>
        <p:nvPicPr>
          <p:cNvPr id="50" name="그림 49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3254CCE2-42BF-D75A-FAF6-3705D89B069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43070" y="3784984"/>
            <a:ext cx="2790825" cy="1695450"/>
          </a:xfrm>
          <a:prstGeom prst="rect">
            <a:avLst/>
          </a:prstGeom>
        </p:spPr>
      </p:pic>
      <p:sp>
        <p:nvSpPr>
          <p:cNvPr id="51" name="TextBox 8">
            <a:extLst>
              <a:ext uri="{FF2B5EF4-FFF2-40B4-BE49-F238E27FC236}">
                <a16:creationId xmlns:a16="http://schemas.microsoft.com/office/drawing/2014/main" id="{A244EC86-3AA6-71A8-E4A6-A2CE6B949BD3}"/>
              </a:ext>
            </a:extLst>
          </p:cNvPr>
          <p:cNvSpPr txBox="1"/>
          <p:nvPr/>
        </p:nvSpPr>
        <p:spPr>
          <a:xfrm>
            <a:off x="9139881" y="3586846"/>
            <a:ext cx="19304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ct val="99600"/>
              </a:lnSpc>
            </a:pPr>
            <a:r>
              <a:rPr lang="ko-KR" altLang="en-US">
                <a:solidFill>
                  <a:srgbClr val="00074E"/>
                </a:solidFill>
                <a:ea typeface="Pretendard Medium"/>
              </a:rPr>
              <a:t> </a:t>
            </a:r>
            <a:r>
              <a:rPr lang="ko-KR" altLang="en-US" err="1">
                <a:solidFill>
                  <a:srgbClr val="00074E"/>
                </a:solidFill>
                <a:ea typeface="Pretendard Medium"/>
              </a:rPr>
              <a:t>sales</a:t>
            </a:r>
            <a:endParaRPr lang="ko-KR" altLang="en-US" sz="1800" b="0" i="0" u="none" strike="noStrike" err="1">
              <a:solidFill>
                <a:srgbClr val="00074E"/>
              </a:solidFill>
              <a:latin typeface="Calibri"/>
              <a:ea typeface="Pretendard Medium"/>
              <a:cs typeface="Calibri"/>
            </a:endParaRPr>
          </a:p>
        </p:txBody>
      </p:sp>
      <p:pic>
        <p:nvPicPr>
          <p:cNvPr id="6" name="Picture 17" descr="원이(가) 표시된 사진&#10;&#10;자동 생성된 설명">
            <a:extLst>
              <a:ext uri="{FF2B5EF4-FFF2-40B4-BE49-F238E27FC236}">
                <a16:creationId xmlns:a16="http://schemas.microsoft.com/office/drawing/2014/main" id="{9070957B-7E85-F6F6-55FD-EB7C1C2452B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7600" y="579521"/>
            <a:ext cx="2832100" cy="1498600"/>
          </a:xfrm>
          <a:prstGeom prst="rect">
            <a:avLst/>
          </a:prstGeom>
        </p:spPr>
      </p:pic>
      <p:sp>
        <p:nvSpPr>
          <p:cNvPr id="8" name="TextBox 22">
            <a:extLst>
              <a:ext uri="{FF2B5EF4-FFF2-40B4-BE49-F238E27FC236}">
                <a16:creationId xmlns:a16="http://schemas.microsoft.com/office/drawing/2014/main" id="{C6D1B157-D36C-8E79-69DB-320D8DD3675C}"/>
              </a:ext>
            </a:extLst>
          </p:cNvPr>
          <p:cNvSpPr txBox="1"/>
          <p:nvPr/>
        </p:nvSpPr>
        <p:spPr>
          <a:xfrm>
            <a:off x="1511300" y="838200"/>
            <a:ext cx="2044700" cy="647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ct val="107898"/>
              </a:lnSpc>
            </a:pPr>
            <a:r>
              <a:rPr lang="ko-KR" altLang="en-US" sz="1900" spc="100">
                <a:solidFill>
                  <a:srgbClr val="FFFFFF"/>
                </a:solidFill>
                <a:ea typeface="Pretendard Medium"/>
                <a:cs typeface="Calibri"/>
              </a:rPr>
              <a:t>Chapter01</a:t>
            </a:r>
            <a:endParaRPr lang="ko-KR"/>
          </a:p>
        </p:txBody>
      </p:sp>
      <p:pic>
        <p:nvPicPr>
          <p:cNvPr id="4" name="그래픽 3" descr="딥러닝 - MATLAB &amp; Simulink">
            <a:extLst>
              <a:ext uri="{FF2B5EF4-FFF2-40B4-BE49-F238E27FC236}">
                <a16:creationId xmlns:a16="http://schemas.microsoft.com/office/drawing/2014/main" id="{1B39A429-90B8-2B84-C046-208D1D6A8F7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940422" y="6599240"/>
            <a:ext cx="3943830" cy="1827107"/>
          </a:xfrm>
          <a:prstGeom prst="rect">
            <a:avLst/>
          </a:prstGeom>
        </p:spPr>
      </p:pic>
      <p:pic>
        <p:nvPicPr>
          <p:cNvPr id="7" name="그림 6" descr="Insight Icon Images – Browse 88,878 Stock Photos, Vectors, and Video |  Adobe Stock">
            <a:extLst>
              <a:ext uri="{FF2B5EF4-FFF2-40B4-BE49-F238E27FC236}">
                <a16:creationId xmlns:a16="http://schemas.microsoft.com/office/drawing/2014/main" id="{61368448-EEED-BFE0-CE42-E183AEB7AE99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504" r="10837" b="10722"/>
          <a:stretch/>
        </p:blipFill>
        <p:spPr>
          <a:xfrm>
            <a:off x="14742802" y="6439030"/>
            <a:ext cx="2173660" cy="2136637"/>
          </a:xfrm>
          <a:prstGeom prst="rect">
            <a:avLst/>
          </a:prstGeom>
        </p:spPr>
      </p:pic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67901E17-C6B7-BCC5-F77D-E5B7792B5385}"/>
              </a:ext>
            </a:extLst>
          </p:cNvPr>
          <p:cNvSpPr/>
          <p:nvPr/>
        </p:nvSpPr>
        <p:spPr>
          <a:xfrm rot="5400000">
            <a:off x="11415113" y="5907001"/>
            <a:ext cx="520013" cy="354094"/>
          </a:xfrm>
          <a:prstGeom prst="rightArrow">
            <a:avLst/>
          </a:prstGeom>
          <a:solidFill>
            <a:srgbClr val="4A5BA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C614E4A2-5546-E03D-D9BF-84C07BAD5952}"/>
              </a:ext>
            </a:extLst>
          </p:cNvPr>
          <p:cNvSpPr/>
          <p:nvPr/>
        </p:nvSpPr>
        <p:spPr>
          <a:xfrm>
            <a:off x="14344651" y="7328547"/>
            <a:ext cx="520013" cy="354094"/>
          </a:xfrm>
          <a:prstGeom prst="rightArrow">
            <a:avLst/>
          </a:prstGeom>
          <a:solidFill>
            <a:srgbClr val="4A5BA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47414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5143500"/>
            <a:ext cx="18300700" cy="5168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" y="571500"/>
            <a:ext cx="17043400" cy="91567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148413" y="4060669"/>
            <a:ext cx="3691742" cy="629796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ct val="99600"/>
              </a:lnSpc>
            </a:pPr>
            <a:r>
              <a:rPr lang="ko-KR" altLang="en-US" sz="1400">
                <a:solidFill>
                  <a:srgbClr val="00074E"/>
                </a:solidFill>
                <a:latin typeface="Pretendard Medium"/>
                <a:ea typeface="Pretendard Medium"/>
              </a:rPr>
              <a:t>데이터의 정확한 분석과 추가적 인사이트 도출을 위해</a:t>
            </a:r>
            <a:endParaRPr lang="ko-KR" sz="1400">
              <a:ea typeface="맑은 고딕"/>
              <a:cs typeface="Calibri"/>
            </a:endParaRPr>
          </a:p>
          <a:p>
            <a:pPr algn="ctr">
              <a:lnSpc>
                <a:spcPct val="99600"/>
              </a:lnSpc>
            </a:pPr>
            <a:r>
              <a:rPr lang="ko-KR" altLang="en-US" sz="1400">
                <a:solidFill>
                  <a:srgbClr val="00074E"/>
                </a:solidFill>
                <a:latin typeface="Pretendard Medium"/>
                <a:ea typeface="Pretendard Medium"/>
              </a:rPr>
              <a:t>주별 인구데이터, 세인트 폴 관측소의 기상데이터 추가</a:t>
            </a:r>
          </a:p>
        </p:txBody>
      </p:sp>
      <p:sp>
        <p:nvSpPr>
          <p:cNvPr id="18" name="TextBox 14">
            <a:extLst>
              <a:ext uri="{FF2B5EF4-FFF2-40B4-BE49-F238E27FC236}">
                <a16:creationId xmlns:a16="http://schemas.microsoft.com/office/drawing/2014/main" id="{B3BBA034-3A2B-E3B3-393F-89AA1A033217}"/>
              </a:ext>
            </a:extLst>
          </p:cNvPr>
          <p:cNvSpPr txBox="1"/>
          <p:nvPr/>
        </p:nvSpPr>
        <p:spPr>
          <a:xfrm>
            <a:off x="3865172" y="852149"/>
            <a:ext cx="10559737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ct val="99600"/>
              </a:lnSpc>
            </a:pPr>
            <a:r>
              <a:rPr lang="ko-KR" altLang="en-US" sz="5500">
                <a:solidFill>
                  <a:srgbClr val="00074E"/>
                </a:solidFill>
                <a:ea typeface="Pretendard SemiBold"/>
                <a:cs typeface="Calibri"/>
              </a:rPr>
              <a:t>시각화를 통한 데이터 초기 분석</a:t>
            </a:r>
            <a:endParaRPr lang="ko-KR" altLang="en-US" sz="5500" b="0" i="0" u="none" strike="noStrike">
              <a:solidFill>
                <a:srgbClr val="00074E"/>
              </a:solidFill>
              <a:ea typeface="Pretendard SemiBold"/>
              <a:cs typeface="Calibri"/>
            </a:endParaRPr>
          </a:p>
        </p:txBody>
      </p:sp>
      <p:pic>
        <p:nvPicPr>
          <p:cNvPr id="21" name="그림 20" descr="Population - Free people icons">
            <a:extLst>
              <a:ext uri="{FF2B5EF4-FFF2-40B4-BE49-F238E27FC236}">
                <a16:creationId xmlns:a16="http://schemas.microsoft.com/office/drawing/2014/main" id="{2A0D73B4-1E31-C745-B555-DD4F9DAB9E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0122" y="2510228"/>
            <a:ext cx="1187970" cy="1181725"/>
          </a:xfrm>
          <a:prstGeom prst="rect">
            <a:avLst/>
          </a:prstGeom>
        </p:spPr>
      </p:pic>
      <p:pic>
        <p:nvPicPr>
          <p:cNvPr id="22" name="그림 21" descr="Weather - Free weather icons">
            <a:extLst>
              <a:ext uri="{FF2B5EF4-FFF2-40B4-BE49-F238E27FC236}">
                <a16:creationId xmlns:a16="http://schemas.microsoft.com/office/drawing/2014/main" id="{6550B7A2-D2D2-2C90-10EF-0A84847628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1532" y="2510228"/>
            <a:ext cx="1187970" cy="1181725"/>
          </a:xfrm>
          <a:prstGeom prst="rect">
            <a:avLst/>
          </a:prstGeom>
        </p:spPr>
      </p:pic>
      <p:pic>
        <p:nvPicPr>
          <p:cNvPr id="25" name="그림 24" descr="텍스트, 스크린샷, 그래프, 라인이(가) 표시된 사진&#10;&#10;자동 생성된 설명">
            <a:extLst>
              <a:ext uri="{FF2B5EF4-FFF2-40B4-BE49-F238E27FC236}">
                <a16:creationId xmlns:a16="http://schemas.microsoft.com/office/drawing/2014/main" id="{7A5472D1-7AD3-A2F6-5865-C253F627CE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9247" y="7196918"/>
            <a:ext cx="3535180" cy="1064771"/>
          </a:xfrm>
          <a:prstGeom prst="rect">
            <a:avLst/>
          </a:prstGeom>
          <a:effectLst>
            <a:outerShdw blurRad="50800" dist="38100" dir="2700000">
              <a:srgbClr val="000000">
                <a:alpha val="40000"/>
              </a:srgbClr>
            </a:outerShdw>
          </a:effectLst>
        </p:spPr>
      </p:pic>
      <p:pic>
        <p:nvPicPr>
          <p:cNvPr id="27" name="그림 26" descr="텍스트, 도표, 지도이(가) 표시된 사진&#10;&#10;자동 생성된 설명">
            <a:extLst>
              <a:ext uri="{FF2B5EF4-FFF2-40B4-BE49-F238E27FC236}">
                <a16:creationId xmlns:a16="http://schemas.microsoft.com/office/drawing/2014/main" id="{F68C5C97-56CF-84BA-748F-1FDD520F1DF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40744" y="4974514"/>
            <a:ext cx="2749446" cy="2086912"/>
          </a:xfrm>
          <a:prstGeom prst="rect">
            <a:avLst/>
          </a:prstGeom>
          <a:effectLst>
            <a:outerShdw blurRad="50800" dist="38100" dir="2700000">
              <a:srgbClr val="000000">
                <a:alpha val="40000"/>
              </a:srgbClr>
            </a:outerShdw>
          </a:effectLst>
        </p:spPr>
      </p:pic>
      <p:sp>
        <p:nvSpPr>
          <p:cNvPr id="29" name="직사각형 28">
            <a:extLst>
              <a:ext uri="{FF2B5EF4-FFF2-40B4-BE49-F238E27FC236}">
                <a16:creationId xmlns:a16="http://schemas.microsoft.com/office/drawing/2014/main" id="{A65813A7-68B4-9A81-FAC7-7CD251A67D3C}"/>
              </a:ext>
            </a:extLst>
          </p:cNvPr>
          <p:cNvSpPr/>
          <p:nvPr/>
        </p:nvSpPr>
        <p:spPr>
          <a:xfrm flipH="1">
            <a:off x="5220863" y="2252582"/>
            <a:ext cx="35553" cy="6168661"/>
          </a:xfrm>
          <a:prstGeom prst="rect">
            <a:avLst/>
          </a:prstGeom>
          <a:ln>
            <a:solidFill>
              <a:srgbClr val="0007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1" name="그림 30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6F43D636-45D7-FEC1-8D3C-EF616B071DB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36770" y="2563318"/>
            <a:ext cx="3385592" cy="2293496"/>
          </a:xfrm>
          <a:prstGeom prst="rect">
            <a:avLst/>
          </a:prstGeom>
          <a:effectLst>
            <a:outerShdw blurRad="50800" dist="38100" dir="2700000">
              <a:srgbClr val="000000">
                <a:alpha val="40000"/>
              </a:srgbClr>
            </a:outerShdw>
          </a:effectLst>
        </p:spPr>
      </p:pic>
      <p:pic>
        <p:nvPicPr>
          <p:cNvPr id="33" name="그림 32" descr="텍스트, 스크린샷, 그래프, 폰트이(가) 표시된 사진&#10;&#10;자동 생성된 설명">
            <a:extLst>
              <a:ext uri="{FF2B5EF4-FFF2-40B4-BE49-F238E27FC236}">
                <a16:creationId xmlns:a16="http://schemas.microsoft.com/office/drawing/2014/main" id="{35342463-A5B0-D031-3B13-5EDF709B74A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35053" y="5365541"/>
            <a:ext cx="3414012" cy="1367229"/>
          </a:xfrm>
          <a:prstGeom prst="rect">
            <a:avLst/>
          </a:prstGeom>
          <a:effectLst>
            <a:outerShdw blurRad="50800" dist="38100" dir="2700000">
              <a:srgbClr val="000000">
                <a:alpha val="40000"/>
              </a:srgbClr>
            </a:outerShdw>
          </a:effectLst>
        </p:spPr>
      </p:pic>
      <p:sp>
        <p:nvSpPr>
          <p:cNvPr id="35" name="TextBox 12">
            <a:extLst>
              <a:ext uri="{FF2B5EF4-FFF2-40B4-BE49-F238E27FC236}">
                <a16:creationId xmlns:a16="http://schemas.microsoft.com/office/drawing/2014/main" id="{E2637AC3-25DC-98A0-D356-1A89210EA6A5}"/>
              </a:ext>
            </a:extLst>
          </p:cNvPr>
          <p:cNvSpPr txBox="1"/>
          <p:nvPr/>
        </p:nvSpPr>
        <p:spPr>
          <a:xfrm>
            <a:off x="5489314" y="7196111"/>
            <a:ext cx="3566826" cy="517368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>
              <a:lnSpc>
                <a:spcPct val="99600"/>
              </a:lnSpc>
            </a:pPr>
            <a:r>
              <a:rPr lang="ko-KR" altLang="en-US" sz="1400">
                <a:solidFill>
                  <a:srgbClr val="00074E"/>
                </a:solidFill>
                <a:latin typeface="Pretendard Medium"/>
                <a:ea typeface="Pretendard Medium"/>
              </a:rPr>
              <a:t>날짜와 데이터, </a:t>
            </a:r>
            <a:r>
              <a:rPr lang="ko-KR" altLang="en-US" sz="1400" err="1">
                <a:solidFill>
                  <a:srgbClr val="00074E"/>
                </a:solidFill>
                <a:latin typeface="Pretendard Medium"/>
                <a:ea typeface="Pretendard Medium"/>
              </a:rPr>
              <a:t>store_id를</a:t>
            </a:r>
            <a:r>
              <a:rPr lang="ko-KR" altLang="en-US" sz="1400">
                <a:solidFill>
                  <a:srgbClr val="00074E"/>
                </a:solidFill>
                <a:latin typeface="Pretendard Medium"/>
                <a:ea typeface="Pretendard Medium"/>
              </a:rPr>
              <a:t> 통해 품목별 빠른 시각화, 추후 분석 인사이트 도출</a:t>
            </a:r>
            <a:endParaRPr lang="ko-KR"/>
          </a:p>
        </p:txBody>
      </p:sp>
      <p:pic>
        <p:nvPicPr>
          <p:cNvPr id="37" name="그림 36" descr="텍스트, 라인, 도표, 그래프이(가) 표시된 사진&#10;&#10;자동 생성된 설명">
            <a:extLst>
              <a:ext uri="{FF2B5EF4-FFF2-40B4-BE49-F238E27FC236}">
                <a16:creationId xmlns:a16="http://schemas.microsoft.com/office/drawing/2014/main" id="{F25AB837-D40C-A08D-C455-8E748075876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09722" y="7067862"/>
            <a:ext cx="3359359" cy="1054308"/>
          </a:xfrm>
          <a:prstGeom prst="rect">
            <a:avLst/>
          </a:prstGeom>
          <a:effectLst>
            <a:outerShdw blurRad="50800" dist="38100" dir="2700000">
              <a:srgbClr val="000000">
                <a:alpha val="40000"/>
              </a:srgbClr>
            </a:outerShdw>
          </a:effectLst>
        </p:spPr>
      </p:pic>
      <p:pic>
        <p:nvPicPr>
          <p:cNvPr id="39" name="그림 38" descr="텍스트, 도표, 그래프, 스크린샷이(가) 표시된 사진&#10;&#10;자동 생성된 설명">
            <a:extLst>
              <a:ext uri="{FF2B5EF4-FFF2-40B4-BE49-F238E27FC236}">
                <a16:creationId xmlns:a16="http://schemas.microsoft.com/office/drawing/2014/main" id="{2273E773-C8EC-2A54-FA61-667C76BEBB4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10659" y="3856062"/>
            <a:ext cx="3357484" cy="1182039"/>
          </a:xfrm>
          <a:prstGeom prst="rect">
            <a:avLst/>
          </a:prstGeom>
          <a:effectLst>
            <a:outerShdw blurRad="50800" dist="38100" dir="2700000">
              <a:srgbClr val="000000">
                <a:alpha val="40000"/>
              </a:srgbClr>
            </a:outerShdw>
          </a:effectLst>
        </p:spPr>
      </p:pic>
      <p:pic>
        <p:nvPicPr>
          <p:cNvPr id="41" name="그림 40" descr="텍스트, 도표, 라인, 그래프이(가) 표시된 사진&#10;&#10;자동 생성된 설명">
            <a:extLst>
              <a:ext uri="{FF2B5EF4-FFF2-40B4-BE49-F238E27FC236}">
                <a16:creationId xmlns:a16="http://schemas.microsoft.com/office/drawing/2014/main" id="{E126A199-2633-23D3-0297-C588B0B208D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713078" y="2255551"/>
            <a:ext cx="3346399" cy="1285096"/>
          </a:xfrm>
          <a:prstGeom prst="rect">
            <a:avLst/>
          </a:prstGeom>
          <a:effectLst>
            <a:outerShdw blurRad="50800" dist="38100" dir="2700000">
              <a:srgbClr val="000000">
                <a:alpha val="40000"/>
              </a:srgbClr>
            </a:outerShdw>
          </a:effectLst>
        </p:spPr>
      </p:pic>
      <p:pic>
        <p:nvPicPr>
          <p:cNvPr id="43" name="그림 42" descr="텍스트, 스크린샷이(가) 표시된 사진&#10;&#10;자동 생성된 설명">
            <a:extLst>
              <a:ext uri="{FF2B5EF4-FFF2-40B4-BE49-F238E27FC236}">
                <a16:creationId xmlns:a16="http://schemas.microsoft.com/office/drawing/2014/main" id="{4CCC3CBC-68C2-3409-A759-21D55A09831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12845" y="5363122"/>
            <a:ext cx="1516818" cy="1284628"/>
          </a:xfrm>
          <a:prstGeom prst="rect">
            <a:avLst/>
          </a:prstGeom>
          <a:effectLst>
            <a:outerShdw blurRad="50800" dist="38100" dir="2700000">
              <a:srgbClr val="000000">
                <a:alpha val="40000"/>
              </a:srgbClr>
            </a:outerShdw>
          </a:effectLst>
        </p:spPr>
      </p:pic>
      <p:pic>
        <p:nvPicPr>
          <p:cNvPr id="45" name="그림 44" descr="텍스트, 스크린샷, 번호이(가) 표시된 사진&#10;&#10;자동 생성된 설명">
            <a:extLst>
              <a:ext uri="{FF2B5EF4-FFF2-40B4-BE49-F238E27FC236}">
                <a16:creationId xmlns:a16="http://schemas.microsoft.com/office/drawing/2014/main" id="{790FC436-DA68-3161-5180-3D48F16E62F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554760" y="5325021"/>
            <a:ext cx="1536806" cy="1317107"/>
          </a:xfrm>
          <a:prstGeom prst="rect">
            <a:avLst/>
          </a:prstGeom>
          <a:effectLst>
            <a:outerShdw blurRad="50800" dist="38100" dir="2700000">
              <a:srgbClr val="000000">
                <a:alpha val="40000"/>
              </a:srgbClr>
            </a:outerShdw>
          </a:effectLst>
        </p:spPr>
      </p:pic>
      <p:sp>
        <p:nvSpPr>
          <p:cNvPr id="46" name="직사각형 45">
            <a:extLst>
              <a:ext uri="{FF2B5EF4-FFF2-40B4-BE49-F238E27FC236}">
                <a16:creationId xmlns:a16="http://schemas.microsoft.com/office/drawing/2014/main" id="{97758D1E-077F-F083-B2A8-6C5D29EA1A91}"/>
              </a:ext>
            </a:extLst>
          </p:cNvPr>
          <p:cNvSpPr/>
          <p:nvPr/>
        </p:nvSpPr>
        <p:spPr>
          <a:xfrm flipH="1">
            <a:off x="9386878" y="2252581"/>
            <a:ext cx="35553" cy="6168661"/>
          </a:xfrm>
          <a:prstGeom prst="rect">
            <a:avLst/>
          </a:prstGeom>
          <a:ln>
            <a:solidFill>
              <a:srgbClr val="0007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12">
            <a:extLst>
              <a:ext uri="{FF2B5EF4-FFF2-40B4-BE49-F238E27FC236}">
                <a16:creationId xmlns:a16="http://schemas.microsoft.com/office/drawing/2014/main" id="{8F58D9B0-9BA7-5AC2-1129-D2C661B4C371}"/>
              </a:ext>
            </a:extLst>
          </p:cNvPr>
          <p:cNvSpPr txBox="1"/>
          <p:nvPr/>
        </p:nvSpPr>
        <p:spPr>
          <a:xfrm>
            <a:off x="9711542" y="8420308"/>
            <a:ext cx="3741711" cy="629794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r>
              <a:rPr lang="ko-KR" sz="1400">
                <a:solidFill>
                  <a:srgbClr val="00074E"/>
                </a:solidFill>
                <a:latin typeface="Pretendard SemiBold"/>
                <a:ea typeface="Pretendard SemiBold"/>
                <a:cs typeface="+mn-lt"/>
              </a:rPr>
              <a:t>비슷한 모듈을 시간단위(</a:t>
            </a:r>
            <a:r>
              <a:rPr lang="ko-KR" sz="1400" err="1">
                <a:solidFill>
                  <a:srgbClr val="00074E"/>
                </a:solidFill>
                <a:latin typeface="Pretendard SemiBold"/>
                <a:ea typeface="Pretendard SemiBold"/>
                <a:cs typeface="+mn-lt"/>
              </a:rPr>
              <a:t>일월년</a:t>
            </a:r>
            <a:r>
              <a:rPr lang="ko-KR" sz="1400">
                <a:solidFill>
                  <a:srgbClr val="00074E"/>
                </a:solidFill>
                <a:latin typeface="Pretendard SemiBold"/>
                <a:ea typeface="Pretendard SemiBold"/>
                <a:cs typeface="+mn-lt"/>
              </a:rPr>
              <a:t>), 품목 그룹 단위로 분석할 수 있도록 제작 및 활용</a:t>
            </a:r>
            <a:endParaRPr lang="ko-KR" sz="1400">
              <a:solidFill>
                <a:srgbClr val="000000"/>
              </a:solidFill>
              <a:latin typeface="Pretendard SemiBold"/>
              <a:ea typeface="Pretendard SemiBold"/>
              <a:cs typeface="+mn-lt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E63D835D-2346-C0A7-25B1-EA4C2C4BBFB2}"/>
              </a:ext>
            </a:extLst>
          </p:cNvPr>
          <p:cNvSpPr/>
          <p:nvPr/>
        </p:nvSpPr>
        <p:spPr>
          <a:xfrm flipH="1">
            <a:off x="13452959" y="2252580"/>
            <a:ext cx="35553" cy="6168661"/>
          </a:xfrm>
          <a:prstGeom prst="rect">
            <a:avLst/>
          </a:prstGeom>
          <a:ln>
            <a:solidFill>
              <a:srgbClr val="0007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0" name="그림 49" descr="텍스트, 도표, 지도, 그래프이(가) 표시된 사진&#10;&#10;자동 생성된 설명">
            <a:extLst>
              <a:ext uri="{FF2B5EF4-FFF2-40B4-BE49-F238E27FC236}">
                <a16:creationId xmlns:a16="http://schemas.microsoft.com/office/drawing/2014/main" id="{CF077B12-4E60-0A52-9E57-D10AF8EA479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795792" y="4684973"/>
            <a:ext cx="3506763" cy="3190564"/>
          </a:xfrm>
          <a:prstGeom prst="rect">
            <a:avLst/>
          </a:prstGeom>
          <a:effectLst>
            <a:outerShdw blurRad="50800" dist="38100" dir="2700000">
              <a:srgbClr val="000000">
                <a:alpha val="40000"/>
              </a:srgbClr>
            </a:outerShdw>
          </a:effectLst>
        </p:spPr>
      </p:pic>
      <p:pic>
        <p:nvPicPr>
          <p:cNvPr id="52" name="그림 51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4CCFE550-F72B-D293-5B1E-68B041F7A3D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3794698" y="2199260"/>
            <a:ext cx="3508947" cy="2334563"/>
          </a:xfrm>
          <a:prstGeom prst="rect">
            <a:avLst/>
          </a:prstGeom>
          <a:effectLst>
            <a:outerShdw blurRad="50800" dist="38100" dir="2700000">
              <a:srgbClr val="000000">
                <a:alpha val="40000"/>
              </a:srgbClr>
            </a:outerShdw>
          </a:effectLst>
        </p:spPr>
      </p:pic>
      <p:sp>
        <p:nvSpPr>
          <p:cNvPr id="53" name="TextBox 12">
            <a:extLst>
              <a:ext uri="{FF2B5EF4-FFF2-40B4-BE49-F238E27FC236}">
                <a16:creationId xmlns:a16="http://schemas.microsoft.com/office/drawing/2014/main" id="{D52BB64D-7CFB-2188-7C7B-F4283FAD7D95}"/>
              </a:ext>
            </a:extLst>
          </p:cNvPr>
          <p:cNvSpPr txBox="1"/>
          <p:nvPr/>
        </p:nvSpPr>
        <p:spPr>
          <a:xfrm>
            <a:off x="13796361" y="8114258"/>
            <a:ext cx="3498121" cy="623549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r>
              <a:rPr lang="ko-KR" altLang="en-US" sz="1400">
                <a:solidFill>
                  <a:srgbClr val="00074E"/>
                </a:solidFill>
                <a:latin typeface="Pretendard SemiBold"/>
                <a:ea typeface="Pretendard SemiBold"/>
                <a:cs typeface="+mn-lt"/>
              </a:rPr>
              <a:t>주 경계 데이터</a:t>
            </a:r>
            <a:r>
              <a:rPr lang="en-US" altLang="ko-KR" sz="1400">
                <a:solidFill>
                  <a:srgbClr val="00074E"/>
                </a:solidFill>
                <a:latin typeface="Pretendard SemiBold"/>
                <a:ea typeface="+mn-lt"/>
                <a:cs typeface="+mn-lt"/>
              </a:rPr>
              <a:t>,</a:t>
            </a:r>
            <a:r>
              <a:rPr lang="ko-KR" altLang="en-US" sz="1400">
                <a:solidFill>
                  <a:srgbClr val="00074E"/>
                </a:solidFill>
                <a:latin typeface="Pretendard SemiBold"/>
                <a:ea typeface="Pretendard SemiBold"/>
                <a:cs typeface="+mn-lt"/>
              </a:rPr>
              <a:t> 좌표 데이터를 활용한 정보의 지리적 시각화</a:t>
            </a:r>
            <a:endParaRPr lang="ko-KR" altLang="en-US" sz="1400">
              <a:solidFill>
                <a:srgbClr val="000000"/>
              </a:solidFill>
              <a:latin typeface="Pretendard SemiBold"/>
              <a:ea typeface="Pretendard SemiBold"/>
              <a:cs typeface="+mn-lt"/>
            </a:endParaRPr>
          </a:p>
          <a:p>
            <a:endParaRPr lang="ko-KR" sz="1400">
              <a:solidFill>
                <a:srgbClr val="00074E"/>
              </a:solidFill>
              <a:latin typeface="Pretendard SemiBold"/>
              <a:ea typeface="Pretendard SemiBold"/>
              <a:cs typeface="+mn-lt"/>
            </a:endParaRPr>
          </a:p>
        </p:txBody>
      </p:sp>
      <p:pic>
        <p:nvPicPr>
          <p:cNvPr id="5" name="Picture 17" descr="원이(가) 표시된 사진&#10;&#10;자동 생성된 설명">
            <a:extLst>
              <a:ext uri="{FF2B5EF4-FFF2-40B4-BE49-F238E27FC236}">
                <a16:creationId xmlns:a16="http://schemas.microsoft.com/office/drawing/2014/main" id="{81576B7A-5FBB-4DA4-0B9D-5A80371731FB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17600" y="579521"/>
            <a:ext cx="2832100" cy="1498600"/>
          </a:xfrm>
          <a:prstGeom prst="rect">
            <a:avLst/>
          </a:prstGeom>
        </p:spPr>
      </p:pic>
      <p:sp>
        <p:nvSpPr>
          <p:cNvPr id="9" name="TextBox 22">
            <a:extLst>
              <a:ext uri="{FF2B5EF4-FFF2-40B4-BE49-F238E27FC236}">
                <a16:creationId xmlns:a16="http://schemas.microsoft.com/office/drawing/2014/main" id="{BB95536C-5435-70C9-9983-AC7E9008628F}"/>
              </a:ext>
            </a:extLst>
          </p:cNvPr>
          <p:cNvSpPr txBox="1"/>
          <p:nvPr/>
        </p:nvSpPr>
        <p:spPr>
          <a:xfrm>
            <a:off x="1511300" y="838200"/>
            <a:ext cx="2044700" cy="647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ct val="107898"/>
              </a:lnSpc>
            </a:pPr>
            <a:r>
              <a:rPr lang="ko-KR" altLang="en-US" sz="1900" spc="100">
                <a:solidFill>
                  <a:srgbClr val="FFFFFF"/>
                </a:solidFill>
                <a:ea typeface="Pretendard Medium"/>
                <a:cs typeface="Calibri"/>
              </a:rPr>
              <a:t>Chapter02</a:t>
            </a:r>
            <a:endParaRPr lang="ko-KR"/>
          </a:p>
        </p:txBody>
      </p:sp>
    </p:spTree>
    <p:extLst>
      <p:ext uri="{BB962C8B-B14F-4D97-AF65-F5344CB8AC3E}">
        <p14:creationId xmlns:p14="http://schemas.microsoft.com/office/powerpoint/2010/main" val="2916285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5143500"/>
            <a:ext cx="18300700" cy="5168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" y="433234"/>
            <a:ext cx="17043400" cy="9156700"/>
          </a:xfrm>
          <a:prstGeom prst="rect">
            <a:avLst/>
          </a:prstGeom>
        </p:spPr>
      </p:pic>
      <p:sp>
        <p:nvSpPr>
          <p:cNvPr id="18" name="TextBox 14">
            <a:extLst>
              <a:ext uri="{FF2B5EF4-FFF2-40B4-BE49-F238E27FC236}">
                <a16:creationId xmlns:a16="http://schemas.microsoft.com/office/drawing/2014/main" id="{B3BBA034-3A2B-E3B3-393F-89AA1A033217}"/>
              </a:ext>
            </a:extLst>
          </p:cNvPr>
          <p:cNvSpPr txBox="1"/>
          <p:nvPr/>
        </p:nvSpPr>
        <p:spPr>
          <a:xfrm>
            <a:off x="3865172" y="852149"/>
            <a:ext cx="10559737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ct val="99600"/>
              </a:lnSpc>
            </a:pPr>
            <a:r>
              <a:rPr lang="ko-KR" altLang="en-US" sz="5500">
                <a:solidFill>
                  <a:srgbClr val="00074E"/>
                </a:solidFill>
                <a:ea typeface="Pretendard SemiBold"/>
                <a:cs typeface="Calibri"/>
              </a:rPr>
              <a:t>모델링 및 인사이트</a:t>
            </a:r>
            <a:endParaRPr lang="ko-KR" altLang="en-US" sz="5500" b="0" i="0" u="none" strike="noStrike">
              <a:solidFill>
                <a:srgbClr val="00074E"/>
              </a:solidFill>
              <a:ea typeface="Pretendard SemiBold"/>
              <a:cs typeface="Calibri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A65813A7-68B4-9A81-FAC7-7CD251A67D3C}"/>
              </a:ext>
            </a:extLst>
          </p:cNvPr>
          <p:cNvSpPr/>
          <p:nvPr/>
        </p:nvSpPr>
        <p:spPr>
          <a:xfrm flipH="1">
            <a:off x="5220863" y="2252582"/>
            <a:ext cx="35553" cy="6168661"/>
          </a:xfrm>
          <a:prstGeom prst="rect">
            <a:avLst/>
          </a:prstGeom>
          <a:ln>
            <a:solidFill>
              <a:srgbClr val="0007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12">
            <a:extLst>
              <a:ext uri="{FF2B5EF4-FFF2-40B4-BE49-F238E27FC236}">
                <a16:creationId xmlns:a16="http://schemas.microsoft.com/office/drawing/2014/main" id="{E2637AC3-25DC-98A0-D356-1A89210EA6A5}"/>
              </a:ext>
            </a:extLst>
          </p:cNvPr>
          <p:cNvSpPr txBox="1"/>
          <p:nvPr/>
        </p:nvSpPr>
        <p:spPr>
          <a:xfrm>
            <a:off x="5489314" y="2255603"/>
            <a:ext cx="3566826" cy="517368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ct val="99600"/>
              </a:lnSpc>
            </a:pPr>
            <a:r>
              <a:rPr lang="ko-KR" altLang="en-US" sz="1400">
                <a:solidFill>
                  <a:srgbClr val="00074E"/>
                </a:solidFill>
                <a:latin typeface="Pretendard Medium"/>
                <a:ea typeface="Pretendard Medium"/>
              </a:rPr>
              <a:t>모델링 코드 및 여러 모델링 전시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97758D1E-077F-F083-B2A8-6C5D29EA1A91}"/>
              </a:ext>
            </a:extLst>
          </p:cNvPr>
          <p:cNvSpPr/>
          <p:nvPr/>
        </p:nvSpPr>
        <p:spPr>
          <a:xfrm flipH="1">
            <a:off x="9386878" y="2252581"/>
            <a:ext cx="35553" cy="6168661"/>
          </a:xfrm>
          <a:prstGeom prst="rect">
            <a:avLst/>
          </a:prstGeom>
          <a:ln>
            <a:solidFill>
              <a:srgbClr val="0007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12">
            <a:extLst>
              <a:ext uri="{FF2B5EF4-FFF2-40B4-BE49-F238E27FC236}">
                <a16:creationId xmlns:a16="http://schemas.microsoft.com/office/drawing/2014/main" id="{8F58D9B0-9BA7-5AC2-1129-D2C661B4C371}"/>
              </a:ext>
            </a:extLst>
          </p:cNvPr>
          <p:cNvSpPr txBox="1"/>
          <p:nvPr/>
        </p:nvSpPr>
        <p:spPr>
          <a:xfrm>
            <a:off x="10798329" y="2255603"/>
            <a:ext cx="5696678" cy="43617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/>
            <a:r>
              <a:rPr lang="ko-KR" sz="1400">
                <a:solidFill>
                  <a:srgbClr val="00074E"/>
                </a:solidFill>
                <a:latin typeface="Pretendard SemiBold"/>
                <a:ea typeface="Pretendard SemiBold"/>
                <a:cs typeface="+mn-lt"/>
              </a:rPr>
              <a:t>가장 성공적인 모델의 분석과 튜닝, 인사이트 </a:t>
            </a:r>
            <a:r>
              <a:rPr lang="ko-KR" altLang="en-US" sz="1400">
                <a:solidFill>
                  <a:srgbClr val="00074E"/>
                </a:solidFill>
                <a:latin typeface="Pretendard SemiBold"/>
                <a:ea typeface="Pretendard SemiBold"/>
                <a:cs typeface="+mn-lt"/>
              </a:rPr>
              <a:t>도출</a:t>
            </a:r>
            <a:endParaRPr lang="ko-KR"/>
          </a:p>
        </p:txBody>
      </p:sp>
      <p:sp>
        <p:nvSpPr>
          <p:cNvPr id="4" name="TextBox 12">
            <a:extLst>
              <a:ext uri="{FF2B5EF4-FFF2-40B4-BE49-F238E27FC236}">
                <a16:creationId xmlns:a16="http://schemas.microsoft.com/office/drawing/2014/main" id="{B3A2DF69-F2C0-6762-840E-D5926F51271A}"/>
              </a:ext>
            </a:extLst>
          </p:cNvPr>
          <p:cNvSpPr txBox="1"/>
          <p:nvPr/>
        </p:nvSpPr>
        <p:spPr>
          <a:xfrm>
            <a:off x="1210871" y="2311815"/>
            <a:ext cx="3566826" cy="517368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ct val="99600"/>
              </a:lnSpc>
            </a:pPr>
            <a:r>
              <a:rPr lang="ko-KR" altLang="en-US" sz="1400">
                <a:solidFill>
                  <a:srgbClr val="00074E"/>
                </a:solidFill>
                <a:latin typeface="Pretendard Medium"/>
                <a:ea typeface="Pretendard Medium"/>
              </a:rPr>
              <a:t>데이터 인사이트와 모델링 계획</a:t>
            </a:r>
          </a:p>
        </p:txBody>
      </p:sp>
      <p:pic>
        <p:nvPicPr>
          <p:cNvPr id="6" name="Picture 17" descr="원이(가) 표시된 사진&#10;&#10;자동 생성된 설명">
            <a:extLst>
              <a:ext uri="{FF2B5EF4-FFF2-40B4-BE49-F238E27FC236}">
                <a16:creationId xmlns:a16="http://schemas.microsoft.com/office/drawing/2014/main" id="{C2777EF7-EF05-FF77-39BA-9B8E0BCD0B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7600" y="579521"/>
            <a:ext cx="2832100" cy="1498600"/>
          </a:xfrm>
          <a:prstGeom prst="rect">
            <a:avLst/>
          </a:prstGeom>
        </p:spPr>
      </p:pic>
      <p:sp>
        <p:nvSpPr>
          <p:cNvPr id="8" name="TextBox 22">
            <a:extLst>
              <a:ext uri="{FF2B5EF4-FFF2-40B4-BE49-F238E27FC236}">
                <a16:creationId xmlns:a16="http://schemas.microsoft.com/office/drawing/2014/main" id="{AD5D942E-C954-DFCA-EAC4-EE90F0ACE2F9}"/>
              </a:ext>
            </a:extLst>
          </p:cNvPr>
          <p:cNvSpPr txBox="1"/>
          <p:nvPr/>
        </p:nvSpPr>
        <p:spPr>
          <a:xfrm>
            <a:off x="1511300" y="838200"/>
            <a:ext cx="2044700" cy="647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ct val="107898"/>
              </a:lnSpc>
            </a:pPr>
            <a:r>
              <a:rPr lang="ko-KR" altLang="en-US" sz="1900" spc="100">
                <a:solidFill>
                  <a:srgbClr val="FFFFFF"/>
                </a:solidFill>
                <a:ea typeface="Pretendard Medium"/>
                <a:cs typeface="Calibri"/>
              </a:rPr>
              <a:t>Chapter03</a:t>
            </a:r>
            <a:endParaRPr lang="ko-KR"/>
          </a:p>
        </p:txBody>
      </p:sp>
      <p:sp>
        <p:nvSpPr>
          <p:cNvPr id="7" name="TextBox 12">
            <a:extLst>
              <a:ext uri="{FF2B5EF4-FFF2-40B4-BE49-F238E27FC236}">
                <a16:creationId xmlns:a16="http://schemas.microsoft.com/office/drawing/2014/main" id="{DF767D85-C813-DEC6-07D5-A7172B765784}"/>
              </a:ext>
            </a:extLst>
          </p:cNvPr>
          <p:cNvSpPr txBox="1"/>
          <p:nvPr/>
        </p:nvSpPr>
        <p:spPr>
          <a:xfrm>
            <a:off x="11682223" y="7464532"/>
            <a:ext cx="3207335" cy="53580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ct val="99600"/>
              </a:lnSpc>
            </a:pPr>
            <a:r>
              <a:rPr lang="ko-KR" altLang="en-US" sz="1400">
                <a:solidFill>
                  <a:srgbClr val="00074E"/>
                </a:solidFill>
                <a:latin typeface="Pretendard Medium"/>
                <a:ea typeface="Pretendard Medium"/>
              </a:rPr>
              <a:t>LSTM 모델 중 입력 변수를 수정한 모델의 성능이 가장 좋았음 (Product12: </a:t>
            </a:r>
            <a:r>
              <a:rPr lang="ko-KR" altLang="en-US" sz="1400" err="1">
                <a:solidFill>
                  <a:srgbClr val="00074E"/>
                </a:solidFill>
                <a:latin typeface="Pretendard Medium"/>
                <a:ea typeface="Pretendard Medium"/>
              </a:rPr>
              <a:t>Milk</a:t>
            </a:r>
            <a:r>
              <a:rPr lang="ko-KR" altLang="en-US" sz="1400">
                <a:solidFill>
                  <a:srgbClr val="00074E"/>
                </a:solidFill>
                <a:latin typeface="Pretendard Medium"/>
                <a:ea typeface="Pretendard Medium"/>
              </a:rPr>
              <a:t>)</a:t>
            </a:r>
          </a:p>
        </p:txBody>
      </p:sp>
      <p:pic>
        <p:nvPicPr>
          <p:cNvPr id="9" name="그림 8" descr="텍스트, 스크린샷, 도표, 디자인이(가) 표시된 사진&#10;&#10;자동 생성된 설명">
            <a:extLst>
              <a:ext uri="{FF2B5EF4-FFF2-40B4-BE49-F238E27FC236}">
                <a16:creationId xmlns:a16="http://schemas.microsoft.com/office/drawing/2014/main" id="{75144FC5-45EE-8B9C-1BE8-7BFCC53298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3968" y="2771622"/>
            <a:ext cx="2454378" cy="2347146"/>
          </a:xfrm>
          <a:prstGeom prst="rect">
            <a:avLst/>
          </a:prstGeom>
        </p:spPr>
      </p:pic>
      <p:pic>
        <p:nvPicPr>
          <p:cNvPr id="10" name="그림 9" descr="텍스트, 스크린샷, 도표, 그래프이(가) 표시된 사진&#10;&#10;자동 생성된 설명">
            <a:extLst>
              <a:ext uri="{FF2B5EF4-FFF2-40B4-BE49-F238E27FC236}">
                <a16:creationId xmlns:a16="http://schemas.microsoft.com/office/drawing/2014/main" id="{62C21047-F173-C6C6-260E-674D4242C1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9684" y="5655545"/>
            <a:ext cx="3042777" cy="2865796"/>
          </a:xfrm>
          <a:prstGeom prst="rect">
            <a:avLst/>
          </a:prstGeom>
        </p:spPr>
      </p:pic>
      <p:sp>
        <p:nvSpPr>
          <p:cNvPr id="11" name="TextBox 12">
            <a:extLst>
              <a:ext uri="{FF2B5EF4-FFF2-40B4-BE49-F238E27FC236}">
                <a16:creationId xmlns:a16="http://schemas.microsoft.com/office/drawing/2014/main" id="{BFD1A67D-E654-6AFD-B88C-5D20278D354A}"/>
              </a:ext>
            </a:extLst>
          </p:cNvPr>
          <p:cNvSpPr txBox="1"/>
          <p:nvPr/>
        </p:nvSpPr>
        <p:spPr>
          <a:xfrm>
            <a:off x="1266176" y="8515354"/>
            <a:ext cx="3566826" cy="517368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ct val="99600"/>
              </a:lnSpc>
            </a:pPr>
            <a:r>
              <a:rPr lang="ko-KR" altLang="en-US" sz="1400">
                <a:solidFill>
                  <a:srgbClr val="00074E"/>
                </a:solidFill>
                <a:latin typeface="Pretendard Medium"/>
                <a:ea typeface="Pretendard Medium"/>
              </a:rPr>
              <a:t>누적 강수량이 늘어나면 주류 소비가 늘어남</a:t>
            </a:r>
          </a:p>
          <a:p>
            <a:pPr algn="ctr">
              <a:lnSpc>
                <a:spcPct val="99600"/>
              </a:lnSpc>
            </a:pPr>
            <a:r>
              <a:rPr lang="ko-KR" altLang="en-US" sz="1400">
                <a:solidFill>
                  <a:srgbClr val="00074E"/>
                </a:solidFill>
                <a:latin typeface="Pretendard Medium"/>
                <a:ea typeface="Pretendard Medium"/>
              </a:rPr>
              <a:t>-&gt; 모델링 활용 가능하나, 수치가 작음</a:t>
            </a:r>
          </a:p>
        </p:txBody>
      </p:sp>
      <p:pic>
        <p:nvPicPr>
          <p:cNvPr id="12" name="그림 11" descr="텍스트, 스크린샷, 그래프, 라인이(가) 표시된 사진&#10;&#10;자동 생성된 설명">
            <a:extLst>
              <a:ext uri="{FF2B5EF4-FFF2-40B4-BE49-F238E27FC236}">
                <a16:creationId xmlns:a16="http://schemas.microsoft.com/office/drawing/2014/main" id="{6C1D1D8D-23C5-E9C5-3ABB-A0613E98556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89024" y="2826161"/>
            <a:ext cx="1597744" cy="150986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F63A864-C6AF-CA81-E0AB-012573E192A6}"/>
              </a:ext>
            </a:extLst>
          </p:cNvPr>
          <p:cNvSpPr txBox="1"/>
          <p:nvPr/>
        </p:nvSpPr>
        <p:spPr>
          <a:xfrm>
            <a:off x="1210869" y="5141660"/>
            <a:ext cx="3566826" cy="517368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ct val="99600"/>
              </a:lnSpc>
            </a:pPr>
            <a:r>
              <a:rPr lang="ko-KR" altLang="en-US" sz="1400">
                <a:solidFill>
                  <a:srgbClr val="00074E"/>
                </a:solidFill>
                <a:latin typeface="Pretendard Medium"/>
                <a:ea typeface="Pretendard Medium"/>
              </a:rPr>
              <a:t>유가와 농산물 판매량은 전혀 연관이 없음</a:t>
            </a:r>
          </a:p>
          <a:p>
            <a:pPr algn="ctr">
              <a:lnSpc>
                <a:spcPct val="99600"/>
              </a:lnSpc>
            </a:pPr>
            <a:r>
              <a:rPr lang="ko-KR" altLang="en-US" sz="1400">
                <a:solidFill>
                  <a:srgbClr val="00074E"/>
                </a:solidFill>
                <a:latin typeface="Pretendard Medium"/>
                <a:ea typeface="Pretendard Medium"/>
              </a:rPr>
              <a:t>-&gt; 모델링 활용 어려움</a:t>
            </a:r>
          </a:p>
        </p:txBody>
      </p:sp>
      <p:pic>
        <p:nvPicPr>
          <p:cNvPr id="14" name="그림 13" descr="텍스트, 폰트, 스크린샷이(가) 표시된 사진&#10;&#10;자동 생성된 설명">
            <a:extLst>
              <a:ext uri="{FF2B5EF4-FFF2-40B4-BE49-F238E27FC236}">
                <a16:creationId xmlns:a16="http://schemas.microsoft.com/office/drawing/2014/main" id="{8A6313A1-022D-2CCC-90B2-7C392CB6E8A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88652" y="2776231"/>
            <a:ext cx="7067550" cy="1323975"/>
          </a:xfrm>
          <a:prstGeom prst="rect">
            <a:avLst/>
          </a:prstGeom>
        </p:spPr>
      </p:pic>
      <p:sp>
        <p:nvSpPr>
          <p:cNvPr id="15" name="TextBox 12">
            <a:extLst>
              <a:ext uri="{FF2B5EF4-FFF2-40B4-BE49-F238E27FC236}">
                <a16:creationId xmlns:a16="http://schemas.microsoft.com/office/drawing/2014/main" id="{DFEE7F49-F3F4-1A4C-8AB3-2072F6D0B612}"/>
              </a:ext>
            </a:extLst>
          </p:cNvPr>
          <p:cNvSpPr txBox="1"/>
          <p:nvPr/>
        </p:nvSpPr>
        <p:spPr>
          <a:xfrm>
            <a:off x="9986158" y="4265975"/>
            <a:ext cx="3207335" cy="53580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>
              <a:lnSpc>
                <a:spcPct val="99600"/>
              </a:lnSpc>
            </a:pPr>
            <a:r>
              <a:rPr lang="ko-KR" altLang="en-US" sz="1400">
                <a:solidFill>
                  <a:srgbClr val="00074E"/>
                </a:solidFill>
                <a:latin typeface="Pretendard Medium"/>
                <a:ea typeface="Pretendard Medium"/>
              </a:rPr>
              <a:t>위의 변수들을 활용하여 모델링</a:t>
            </a:r>
            <a:endParaRPr lang="ko-KR"/>
          </a:p>
        </p:txBody>
      </p:sp>
      <p:pic>
        <p:nvPicPr>
          <p:cNvPr id="16" name="그림 15" descr="텍스트, 스크린샷, 그래프, 라인이(가) 표시된 사진&#10;&#10;자동 생성된 설명">
            <a:extLst>
              <a:ext uri="{FF2B5EF4-FFF2-40B4-BE49-F238E27FC236}">
                <a16:creationId xmlns:a16="http://schemas.microsoft.com/office/drawing/2014/main" id="{3913B37A-451E-D67D-5B0A-44E4345F67C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41938" y="5009074"/>
            <a:ext cx="2954900" cy="2232230"/>
          </a:xfrm>
          <a:prstGeom prst="rect">
            <a:avLst/>
          </a:prstGeom>
        </p:spPr>
      </p:pic>
      <p:pic>
        <p:nvPicPr>
          <p:cNvPr id="17" name="그림 16" descr="텍스트, 스크린샷, 그래프, 라인이(가) 표시된 사진&#10;&#10;자동 생성된 설명">
            <a:extLst>
              <a:ext uri="{FF2B5EF4-FFF2-40B4-BE49-F238E27FC236}">
                <a16:creationId xmlns:a16="http://schemas.microsoft.com/office/drawing/2014/main" id="{B79C3D34-1A40-BDB3-26A3-9FD86A9A583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044980" y="5014453"/>
            <a:ext cx="3692566" cy="2221476"/>
          </a:xfrm>
          <a:prstGeom prst="rect">
            <a:avLst/>
          </a:prstGeom>
        </p:spPr>
      </p:pic>
      <p:pic>
        <p:nvPicPr>
          <p:cNvPr id="20" name="그림 19" descr="그래프, 라인, 다채로움, 스크린샷이(가) 표시된 사진&#10;&#10;자동 생성된 설명">
            <a:extLst>
              <a:ext uri="{FF2B5EF4-FFF2-40B4-BE49-F238E27FC236}">
                <a16:creationId xmlns:a16="http://schemas.microsoft.com/office/drawing/2014/main" id="{BCFE46EE-541F-2A3A-5906-4E28F5EAB84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50688" y="2827235"/>
            <a:ext cx="1586375" cy="1378668"/>
          </a:xfrm>
          <a:prstGeom prst="rect">
            <a:avLst/>
          </a:prstGeom>
        </p:spPr>
      </p:pic>
      <p:pic>
        <p:nvPicPr>
          <p:cNvPr id="21" name="그림 20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3A6B468E-1CDA-98A1-598D-CA13DCA8E0D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84722" y="4612251"/>
            <a:ext cx="3366936" cy="684574"/>
          </a:xfrm>
          <a:prstGeom prst="rect">
            <a:avLst/>
          </a:prstGeom>
        </p:spPr>
      </p:pic>
      <p:pic>
        <p:nvPicPr>
          <p:cNvPr id="22" name="그림 21" descr="텍스트, 스크린샷, 번호이(가) 표시된 사진&#10;&#10;자동 생성된 설명">
            <a:extLst>
              <a:ext uri="{FF2B5EF4-FFF2-40B4-BE49-F238E27FC236}">
                <a16:creationId xmlns:a16="http://schemas.microsoft.com/office/drawing/2014/main" id="{D4F7AA51-6C3B-2870-5E3F-E5D310C4448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85338" y="5403594"/>
            <a:ext cx="3365706" cy="1821120"/>
          </a:xfrm>
          <a:prstGeom prst="rect">
            <a:avLst/>
          </a:prstGeom>
        </p:spPr>
      </p:pic>
      <p:sp>
        <p:nvSpPr>
          <p:cNvPr id="23" name="TextBox 12">
            <a:extLst>
              <a:ext uri="{FF2B5EF4-FFF2-40B4-BE49-F238E27FC236}">
                <a16:creationId xmlns:a16="http://schemas.microsoft.com/office/drawing/2014/main" id="{5B8B9507-2461-6A11-DAA1-F65F6ABEEA6E}"/>
              </a:ext>
            </a:extLst>
          </p:cNvPr>
          <p:cNvSpPr txBox="1"/>
          <p:nvPr/>
        </p:nvSpPr>
        <p:spPr>
          <a:xfrm>
            <a:off x="5487901" y="7363135"/>
            <a:ext cx="3566826" cy="517368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ct val="99600"/>
              </a:lnSpc>
            </a:pPr>
            <a:r>
              <a:rPr lang="ko-KR" altLang="en-US" sz="1400">
                <a:solidFill>
                  <a:srgbClr val="00074E"/>
                </a:solidFill>
                <a:latin typeface="Pretendard Medium"/>
                <a:ea typeface="Pretendard Medium"/>
              </a:rPr>
              <a:t>총 12개의 모델 제작 및 비교</a:t>
            </a:r>
          </a:p>
        </p:txBody>
      </p:sp>
    </p:spTree>
    <p:extLst>
      <p:ext uri="{BB962C8B-B14F-4D97-AF65-F5344CB8AC3E}">
        <p14:creationId xmlns:p14="http://schemas.microsoft.com/office/powerpoint/2010/main" val="1984658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5143500"/>
            <a:ext cx="18300700" cy="5168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" y="571500"/>
            <a:ext cx="17043400" cy="9156700"/>
          </a:xfrm>
          <a:prstGeom prst="rect">
            <a:avLst/>
          </a:prstGeom>
        </p:spPr>
      </p:pic>
      <p:sp>
        <p:nvSpPr>
          <p:cNvPr id="18" name="TextBox 14">
            <a:extLst>
              <a:ext uri="{FF2B5EF4-FFF2-40B4-BE49-F238E27FC236}">
                <a16:creationId xmlns:a16="http://schemas.microsoft.com/office/drawing/2014/main" id="{B3BBA034-3A2B-E3B3-393F-89AA1A033217}"/>
              </a:ext>
            </a:extLst>
          </p:cNvPr>
          <p:cNvSpPr txBox="1"/>
          <p:nvPr/>
        </p:nvSpPr>
        <p:spPr>
          <a:xfrm>
            <a:off x="3865172" y="852149"/>
            <a:ext cx="10559737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ct val="99600"/>
              </a:lnSpc>
            </a:pPr>
            <a:r>
              <a:rPr lang="ko-KR" altLang="en-US" sz="5500">
                <a:solidFill>
                  <a:srgbClr val="00074E"/>
                </a:solidFill>
                <a:ea typeface="Pretendard SemiBold"/>
                <a:cs typeface="Calibri"/>
              </a:rPr>
              <a:t>최종 결론</a:t>
            </a:r>
            <a:endParaRPr lang="ko-KR" altLang="en-US" sz="5500" b="0" i="0" u="none" strike="noStrike">
              <a:solidFill>
                <a:srgbClr val="00074E"/>
              </a:solidFill>
              <a:ea typeface="Pretendard SemiBold"/>
              <a:cs typeface="Calibri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97758D1E-077F-F083-B2A8-6C5D29EA1A91}"/>
              </a:ext>
            </a:extLst>
          </p:cNvPr>
          <p:cNvSpPr/>
          <p:nvPr/>
        </p:nvSpPr>
        <p:spPr>
          <a:xfrm flipH="1">
            <a:off x="9143288" y="2215106"/>
            <a:ext cx="35553" cy="6168661"/>
          </a:xfrm>
          <a:prstGeom prst="rect">
            <a:avLst/>
          </a:prstGeom>
          <a:ln>
            <a:solidFill>
              <a:srgbClr val="0007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45EC68B4-0E0B-D1B1-3147-5EB1213ABE73}"/>
              </a:ext>
            </a:extLst>
          </p:cNvPr>
          <p:cNvSpPr txBox="1"/>
          <p:nvPr/>
        </p:nvSpPr>
        <p:spPr>
          <a:xfrm>
            <a:off x="10074134" y="2220428"/>
            <a:ext cx="2729876" cy="54235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285750" indent="-285750">
              <a:lnSpc>
                <a:spcPct val="99600"/>
              </a:lnSpc>
              <a:buFont typeface="Arial"/>
              <a:buChar char="•"/>
            </a:pPr>
            <a:r>
              <a:rPr lang="ko-KR" altLang="en-US" b="1">
                <a:solidFill>
                  <a:srgbClr val="00074E"/>
                </a:solidFill>
                <a:latin typeface="Pretendard Medium"/>
                <a:ea typeface="Pretendard Medium"/>
              </a:rPr>
              <a:t>최적의 재고관리 방법</a:t>
            </a:r>
            <a:endParaRPr lang="ko-KR">
              <a:ea typeface="맑은 고딕"/>
              <a:cs typeface="Calibri"/>
            </a:endParaRPr>
          </a:p>
        </p:txBody>
      </p:sp>
      <p:pic>
        <p:nvPicPr>
          <p:cNvPr id="5" name="Picture 17" descr="원이(가) 표시된 사진&#10;&#10;자동 생성된 설명">
            <a:extLst>
              <a:ext uri="{FF2B5EF4-FFF2-40B4-BE49-F238E27FC236}">
                <a16:creationId xmlns:a16="http://schemas.microsoft.com/office/drawing/2014/main" id="{6C11DE62-6E90-3526-57C0-CE3059BFEA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7600" y="579521"/>
            <a:ext cx="2832100" cy="1498600"/>
          </a:xfrm>
          <a:prstGeom prst="rect">
            <a:avLst/>
          </a:prstGeom>
        </p:spPr>
      </p:pic>
      <p:sp>
        <p:nvSpPr>
          <p:cNvPr id="7" name="TextBox 22">
            <a:extLst>
              <a:ext uri="{FF2B5EF4-FFF2-40B4-BE49-F238E27FC236}">
                <a16:creationId xmlns:a16="http://schemas.microsoft.com/office/drawing/2014/main" id="{222F1912-05DE-463B-DDDD-9807AABD0D04}"/>
              </a:ext>
            </a:extLst>
          </p:cNvPr>
          <p:cNvSpPr txBox="1"/>
          <p:nvPr/>
        </p:nvSpPr>
        <p:spPr>
          <a:xfrm>
            <a:off x="1511300" y="838200"/>
            <a:ext cx="2044700" cy="647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ct val="107898"/>
              </a:lnSpc>
            </a:pPr>
            <a:r>
              <a:rPr lang="ko-KR" altLang="en-US" sz="1900" spc="100">
                <a:solidFill>
                  <a:srgbClr val="FFFFFF"/>
                </a:solidFill>
                <a:ea typeface="Pretendard Medium"/>
                <a:cs typeface="Calibri"/>
              </a:rPr>
              <a:t>Chapter04</a:t>
            </a:r>
            <a:endParaRPr lang="ko-KR"/>
          </a:p>
        </p:txBody>
      </p:sp>
      <p:pic>
        <p:nvPicPr>
          <p:cNvPr id="11" name="그림 10" descr="블랙, 어둠, 달, 우주이(가) 표시된 사진&#10;&#10;자동 생성된 설명">
            <a:extLst>
              <a:ext uri="{FF2B5EF4-FFF2-40B4-BE49-F238E27FC236}">
                <a16:creationId xmlns:a16="http://schemas.microsoft.com/office/drawing/2014/main" id="{E6C315E3-1C9A-0410-43A7-E8197215FE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97669" y="6750561"/>
            <a:ext cx="1400504" cy="1317407"/>
          </a:xfrm>
          <a:prstGeom prst="rect">
            <a:avLst/>
          </a:prstGeom>
        </p:spPr>
      </p:pic>
      <p:pic>
        <p:nvPicPr>
          <p:cNvPr id="4" name="그림 3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522FB4A7-1E8B-5C99-5B6F-B3032FF088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3362" y="2826928"/>
            <a:ext cx="6496050" cy="1609725"/>
          </a:xfrm>
          <a:prstGeom prst="rect">
            <a:avLst/>
          </a:prstGeom>
        </p:spPr>
      </p:pic>
      <p:sp>
        <p:nvSpPr>
          <p:cNvPr id="6" name="TextBox 12">
            <a:extLst>
              <a:ext uri="{FF2B5EF4-FFF2-40B4-BE49-F238E27FC236}">
                <a16:creationId xmlns:a16="http://schemas.microsoft.com/office/drawing/2014/main" id="{476948F6-42AA-DBDF-D83F-68588D7BF9ED}"/>
              </a:ext>
            </a:extLst>
          </p:cNvPr>
          <p:cNvSpPr txBox="1"/>
          <p:nvPr/>
        </p:nvSpPr>
        <p:spPr>
          <a:xfrm>
            <a:off x="1210870" y="6520746"/>
            <a:ext cx="6463060" cy="2422771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ko-KR" altLang="en-US" b="1">
                <a:solidFill>
                  <a:srgbClr val="00074E"/>
                </a:solidFill>
                <a:latin typeface="Pretendard Medium"/>
                <a:ea typeface="Pretendard Medium"/>
              </a:rPr>
              <a:t>모델을 활용한 상품 수요 예측 추가 전략</a:t>
            </a:r>
            <a:endParaRPr lang="ko-KR">
              <a:ea typeface="맑은 고딕"/>
              <a:cs typeface="Calibri"/>
            </a:endParaRPr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ko-KR" altLang="en-US" sz="1600">
                <a:solidFill>
                  <a:srgbClr val="00074E"/>
                </a:solidFill>
                <a:latin typeface="Pretendard Medium"/>
                <a:ea typeface="Pretendard Medium"/>
                <a:cs typeface="Calibri"/>
              </a:rPr>
              <a:t>성능이 떨어지는 상품들에 대해 연관이 있을 수 있는 추가적인 데이터를 활용하여 재모델링 시도</a:t>
            </a:r>
          </a:p>
          <a:p>
            <a:pPr marL="1200150" lvl="2" indent="-285750">
              <a:lnSpc>
                <a:spcPct val="150000"/>
              </a:lnSpc>
              <a:buFont typeface="Wingdings"/>
              <a:buChar char="§"/>
            </a:pPr>
            <a:r>
              <a:rPr lang="ko-KR" altLang="en-US" sz="1600" err="1">
                <a:solidFill>
                  <a:srgbClr val="00074E"/>
                </a:solidFill>
                <a:latin typeface="Pretendard Medium"/>
                <a:ea typeface="Pretendard Medium"/>
                <a:cs typeface="Calibri"/>
              </a:rPr>
              <a:t>ex</a:t>
            </a:r>
            <a:r>
              <a:rPr lang="ko-KR" altLang="en-US" sz="1600">
                <a:solidFill>
                  <a:srgbClr val="00074E"/>
                </a:solidFill>
                <a:latin typeface="Pretendard Medium"/>
                <a:ea typeface="Pretendard Medium"/>
                <a:cs typeface="Calibri"/>
              </a:rPr>
              <a:t>) 농산물과 농산물의 가격, 작황 정보, 댐 수위 등</a:t>
            </a:r>
          </a:p>
          <a:p>
            <a:pPr marL="1200150" lvl="2" indent="-285750">
              <a:lnSpc>
                <a:spcPct val="150000"/>
              </a:lnSpc>
              <a:buFont typeface="Wingdings"/>
              <a:buChar char="§"/>
            </a:pPr>
            <a:r>
              <a:rPr lang="ko-KR" altLang="en-US" sz="1600" err="1">
                <a:solidFill>
                  <a:srgbClr val="00074E"/>
                </a:solidFill>
                <a:latin typeface="Pretendard Medium"/>
                <a:ea typeface="Pretendard Medium"/>
                <a:cs typeface="Calibri"/>
              </a:rPr>
              <a:t>ex</a:t>
            </a:r>
            <a:r>
              <a:rPr lang="ko-KR" altLang="en-US" sz="1600">
                <a:solidFill>
                  <a:srgbClr val="00074E"/>
                </a:solidFill>
                <a:latin typeface="Pretendard Medium"/>
                <a:ea typeface="Pretendard Medium"/>
                <a:cs typeface="Calibri"/>
              </a:rPr>
              <a:t>) 주류와 주가의 연관성 등</a:t>
            </a:r>
          </a:p>
        </p:txBody>
      </p:sp>
      <p:pic>
        <p:nvPicPr>
          <p:cNvPr id="10" name="그림 9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5F6FBF9A-2512-E165-E9A0-E317BB6A636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7356" y="4580449"/>
            <a:ext cx="6478843" cy="1172190"/>
          </a:xfrm>
          <a:prstGeom prst="rect">
            <a:avLst/>
          </a:prstGeom>
        </p:spPr>
      </p:pic>
      <p:sp>
        <p:nvSpPr>
          <p:cNvPr id="14" name="TextBox 12">
            <a:extLst>
              <a:ext uri="{FF2B5EF4-FFF2-40B4-BE49-F238E27FC236}">
                <a16:creationId xmlns:a16="http://schemas.microsoft.com/office/drawing/2014/main" id="{D47158E0-E71F-C168-BEEB-286E3DA85F8F}"/>
              </a:ext>
            </a:extLst>
          </p:cNvPr>
          <p:cNvSpPr txBox="1"/>
          <p:nvPr/>
        </p:nvSpPr>
        <p:spPr>
          <a:xfrm>
            <a:off x="1330700" y="2243714"/>
            <a:ext cx="3780697" cy="551569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285750" indent="-285750">
              <a:lnSpc>
                <a:spcPct val="99600"/>
              </a:lnSpc>
              <a:buFont typeface="Arial"/>
              <a:buChar char="•"/>
            </a:pPr>
            <a:r>
              <a:rPr lang="ko-KR" altLang="en-US" b="1">
                <a:solidFill>
                  <a:srgbClr val="00074E"/>
                </a:solidFill>
                <a:latin typeface="Pretendard Medium"/>
                <a:ea typeface="Pretendard Medium"/>
              </a:rPr>
              <a:t>상품에 따른 모델링 성능 비교 </a:t>
            </a:r>
            <a:endParaRPr lang="ko-KR" b="1">
              <a:ea typeface="맑은 고딕"/>
              <a:cs typeface="Calibri"/>
            </a:endParaRPr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0503DD6A-3992-C639-19A6-3C0018766FA7}"/>
              </a:ext>
            </a:extLst>
          </p:cNvPr>
          <p:cNvSpPr txBox="1"/>
          <p:nvPr/>
        </p:nvSpPr>
        <p:spPr>
          <a:xfrm>
            <a:off x="1644103" y="5755673"/>
            <a:ext cx="4923697" cy="54235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>
              <a:lnSpc>
                <a:spcPct val="99600"/>
              </a:lnSpc>
            </a:pPr>
            <a:r>
              <a:rPr lang="ko-KR" altLang="en-US" sz="1400">
                <a:solidFill>
                  <a:srgbClr val="00074E"/>
                </a:solidFill>
                <a:latin typeface="Pretendard Medium"/>
                <a:ea typeface="Pretendard Medium"/>
              </a:rPr>
              <a:t>-&gt; </a:t>
            </a:r>
            <a:r>
              <a:rPr lang="ko-KR" altLang="en-US" sz="1400" err="1">
                <a:solidFill>
                  <a:srgbClr val="00074E"/>
                </a:solidFill>
                <a:latin typeface="Pretendard Medium"/>
                <a:ea typeface="Pretendard Medium"/>
              </a:rPr>
              <a:t>Product</a:t>
            </a:r>
            <a:r>
              <a:rPr lang="ko-KR" altLang="en-US" sz="1400">
                <a:solidFill>
                  <a:srgbClr val="00074E"/>
                </a:solidFill>
                <a:latin typeface="Pretendard Medium"/>
                <a:ea typeface="Pretendard Medium"/>
              </a:rPr>
              <a:t> 12(</a:t>
            </a:r>
            <a:r>
              <a:rPr lang="ko-KR" altLang="en-US" sz="1400" err="1">
                <a:solidFill>
                  <a:srgbClr val="00074E"/>
                </a:solidFill>
                <a:latin typeface="Pretendard Medium"/>
                <a:ea typeface="Pretendard Medium"/>
              </a:rPr>
              <a:t>milk</a:t>
            </a:r>
            <a:r>
              <a:rPr lang="ko-KR" altLang="en-US" sz="1400">
                <a:solidFill>
                  <a:srgbClr val="00074E"/>
                </a:solidFill>
                <a:latin typeface="Pretendard Medium"/>
                <a:ea typeface="Pretendard Medium"/>
              </a:rPr>
              <a:t>)의 성능이 가장 좋음</a:t>
            </a:r>
          </a:p>
        </p:txBody>
      </p:sp>
      <p:sp>
        <p:nvSpPr>
          <p:cNvPr id="16" name="TextBox 12">
            <a:extLst>
              <a:ext uri="{FF2B5EF4-FFF2-40B4-BE49-F238E27FC236}">
                <a16:creationId xmlns:a16="http://schemas.microsoft.com/office/drawing/2014/main" id="{ECF43764-ABDA-A410-E893-612C0ADE05AE}"/>
              </a:ext>
            </a:extLst>
          </p:cNvPr>
          <p:cNvSpPr txBox="1"/>
          <p:nvPr/>
        </p:nvSpPr>
        <p:spPr>
          <a:xfrm>
            <a:off x="10078336" y="2796777"/>
            <a:ext cx="6020608" cy="3740906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99600"/>
              </a:lnSpc>
            </a:pPr>
            <a:r>
              <a:rPr lang="ko-KR" altLang="en-US" sz="1600">
                <a:solidFill>
                  <a:srgbClr val="00074E"/>
                </a:solidFill>
                <a:latin typeface="Pretendard SemiBold"/>
                <a:ea typeface="Pretendard SemiBold"/>
              </a:rPr>
              <a:t>상품 수요 </a:t>
            </a:r>
            <a:r>
              <a:rPr lang="ko-KR" altLang="en-US" sz="1600" err="1">
                <a:solidFill>
                  <a:srgbClr val="00074E"/>
                </a:solidFill>
                <a:latin typeface="Pretendard SemiBold"/>
                <a:ea typeface="Pretendard SemiBold"/>
              </a:rPr>
              <a:t>예측시</a:t>
            </a:r>
            <a:r>
              <a:rPr lang="ko-KR" altLang="en-US" sz="1600">
                <a:solidFill>
                  <a:srgbClr val="00074E"/>
                </a:solidFill>
                <a:latin typeface="Pretendard SemiBold"/>
                <a:ea typeface="Pretendard SemiBold"/>
              </a:rPr>
              <a:t> 고려해야 하는 점은 </a:t>
            </a:r>
            <a:r>
              <a:rPr lang="ko-KR" altLang="en-US" sz="1600" err="1">
                <a:solidFill>
                  <a:srgbClr val="00074E"/>
                </a:solidFill>
                <a:latin typeface="Pretendard SemiBold"/>
                <a:ea typeface="Pretendard SemiBold"/>
              </a:rPr>
              <a:t>실패시</a:t>
            </a:r>
            <a:r>
              <a:rPr lang="ko-KR" altLang="en-US" sz="1600">
                <a:solidFill>
                  <a:srgbClr val="00074E"/>
                </a:solidFill>
                <a:latin typeface="Pretendard SemiBold"/>
                <a:ea typeface="Pretendard SemiBold"/>
              </a:rPr>
              <a:t> 재고 관리인데, 우유의 경우 주류와 농산물 대비 보관기간이 상대적으로 짧아, </a:t>
            </a:r>
            <a:r>
              <a:rPr lang="ko-KR" altLang="en-US" sz="1600" err="1">
                <a:solidFill>
                  <a:srgbClr val="00074E"/>
                </a:solidFill>
                <a:latin typeface="Pretendard SemiBold"/>
                <a:ea typeface="Pretendard SemiBold"/>
              </a:rPr>
              <a:t>실패시</a:t>
            </a:r>
            <a:r>
              <a:rPr lang="ko-KR" altLang="en-US" sz="1600">
                <a:solidFill>
                  <a:srgbClr val="00074E"/>
                </a:solidFill>
                <a:latin typeface="Pretendard SemiBold"/>
                <a:ea typeface="Pretendard SemiBold"/>
              </a:rPr>
              <a:t> 리스크가 큼 </a:t>
            </a:r>
          </a:p>
          <a:p>
            <a:pPr>
              <a:lnSpc>
                <a:spcPct val="99600"/>
              </a:lnSpc>
            </a:pPr>
            <a:endParaRPr lang="ko-KR" altLang="en-US" sz="1600">
              <a:solidFill>
                <a:srgbClr val="00074E"/>
              </a:solidFill>
              <a:latin typeface="Pretendard SemiBold"/>
              <a:ea typeface="Pretendard SemiBold"/>
            </a:endParaRPr>
          </a:p>
          <a:p>
            <a:pPr>
              <a:lnSpc>
                <a:spcPct val="99600"/>
              </a:lnSpc>
            </a:pPr>
            <a:r>
              <a:rPr lang="ko-KR" altLang="en-US" sz="1600">
                <a:solidFill>
                  <a:srgbClr val="00074E"/>
                </a:solidFill>
                <a:latin typeface="Pretendard SemiBold"/>
                <a:ea typeface="Pretendard SemiBold"/>
              </a:rPr>
              <a:t>성능이 가장 좋은 모델은 다행히도 우유를 예측하는 모델로, 주요 지표로 활용하여 과재고로 인한 손실 방지</a:t>
            </a:r>
            <a:endParaRPr lang="ko-KR" altLang="en-US" sz="1600">
              <a:solidFill>
                <a:srgbClr val="00074E"/>
              </a:solidFill>
              <a:latin typeface="Pretendard SemiBold"/>
              <a:ea typeface="Pretendard SemiBold"/>
              <a:cs typeface="Calibri"/>
            </a:endParaRPr>
          </a:p>
          <a:p>
            <a:pPr>
              <a:lnSpc>
                <a:spcPct val="99600"/>
              </a:lnSpc>
            </a:pPr>
            <a:endParaRPr lang="ko-KR" altLang="en-US" sz="1600">
              <a:solidFill>
                <a:srgbClr val="00074E"/>
              </a:solidFill>
              <a:latin typeface="Pretendard SemiBold"/>
              <a:ea typeface="Pretendard SemiBold"/>
            </a:endParaRPr>
          </a:p>
          <a:p>
            <a:pPr>
              <a:lnSpc>
                <a:spcPct val="99600"/>
              </a:lnSpc>
            </a:pPr>
            <a:r>
              <a:rPr lang="ko-KR" altLang="en-US" sz="1600">
                <a:solidFill>
                  <a:srgbClr val="00074E"/>
                </a:solidFill>
                <a:latin typeface="Pretendard SemiBold"/>
                <a:ea typeface="Pretendard SemiBold"/>
              </a:rPr>
              <a:t>타 상품의 경우 성능이 조금 떨어지지만, 재고를 여유롭게 보관하여도 재고관리에 큰 문제가 발생하지 않을 것으로 예상</a:t>
            </a:r>
          </a:p>
          <a:p>
            <a:pPr>
              <a:lnSpc>
                <a:spcPct val="99600"/>
              </a:lnSpc>
            </a:pPr>
            <a:endParaRPr lang="ko-KR" altLang="en-US" sz="1600">
              <a:solidFill>
                <a:srgbClr val="00074E"/>
              </a:solidFill>
              <a:latin typeface="Pretendard SemiBold"/>
              <a:ea typeface="Pretendard SemiBold"/>
            </a:endParaRPr>
          </a:p>
          <a:p>
            <a:pPr>
              <a:lnSpc>
                <a:spcPct val="99600"/>
              </a:lnSpc>
            </a:pPr>
            <a:r>
              <a:rPr lang="ko-KR" altLang="en-US" sz="1600">
                <a:solidFill>
                  <a:srgbClr val="00074E"/>
                </a:solidFill>
                <a:latin typeface="Pretendard SemiBold"/>
                <a:ea typeface="Pretendard SemiBold"/>
              </a:rPr>
              <a:t>농산물의 경우 일별 예측은 어렵지만, 월단위로는 예측이 가능함. 이에 따라 넉넉히 보유하며, </a:t>
            </a:r>
            <a:r>
              <a:rPr lang="ko-KR" altLang="en-US" sz="1600" err="1">
                <a:solidFill>
                  <a:srgbClr val="00074E"/>
                </a:solidFill>
                <a:latin typeface="Pretendard SemiBold"/>
                <a:ea typeface="Pretendard SemiBold"/>
              </a:rPr>
              <a:t>선입선출로</a:t>
            </a:r>
            <a:r>
              <a:rPr lang="ko-KR" altLang="en-US" sz="1600">
                <a:solidFill>
                  <a:srgbClr val="00074E"/>
                </a:solidFill>
                <a:latin typeface="Pretendard SemiBold"/>
                <a:ea typeface="Pretendard SemiBold"/>
              </a:rPr>
              <a:t> </a:t>
            </a:r>
            <a:r>
              <a:rPr lang="ko-KR" altLang="en-US" sz="1600" err="1">
                <a:solidFill>
                  <a:srgbClr val="00074E"/>
                </a:solidFill>
                <a:latin typeface="Pretendard SemiBold"/>
                <a:ea typeface="Pretendard SemiBold"/>
              </a:rPr>
              <a:t>관리시</a:t>
            </a:r>
            <a:r>
              <a:rPr lang="ko-KR" altLang="en-US" sz="1600">
                <a:solidFill>
                  <a:srgbClr val="00074E"/>
                </a:solidFill>
                <a:latin typeface="Pretendard SemiBold"/>
                <a:ea typeface="Pretendard SemiBold"/>
              </a:rPr>
              <a:t> 큰 문제가 없을 것으로 예상</a:t>
            </a:r>
          </a:p>
          <a:p>
            <a:pPr>
              <a:lnSpc>
                <a:spcPct val="99600"/>
              </a:lnSpc>
            </a:pPr>
            <a:endParaRPr lang="ko-KR" altLang="en-US" sz="1600">
              <a:solidFill>
                <a:srgbClr val="00074E"/>
              </a:solidFill>
              <a:latin typeface="Pretendard SemiBold"/>
              <a:ea typeface="Pretendard SemiBold"/>
            </a:endParaRPr>
          </a:p>
          <a:p>
            <a:pPr>
              <a:lnSpc>
                <a:spcPct val="99600"/>
              </a:lnSpc>
            </a:pPr>
            <a:r>
              <a:rPr lang="ko-KR" altLang="en-US" sz="1600">
                <a:solidFill>
                  <a:srgbClr val="00074E"/>
                </a:solidFill>
                <a:latin typeface="Pretendard SemiBold"/>
                <a:ea typeface="Pretendard SemiBold"/>
              </a:rPr>
              <a:t>주류의 경우 주기적으로 튀는 매출이 발생하지만, 유통기한이 기니 충분한 재고를 가지고 </a:t>
            </a:r>
            <a:r>
              <a:rPr lang="ko-KR" sz="1600">
                <a:solidFill>
                  <a:srgbClr val="00074E"/>
                </a:solidFill>
                <a:latin typeface="Pretendard SemiBold"/>
                <a:ea typeface="Pretendard SemiBold"/>
                <a:cs typeface="+mn-lt"/>
              </a:rPr>
              <a:t>있어도 무방할 것으로 예상</a:t>
            </a:r>
            <a:endParaRPr lang="ko-KR" altLang="en-US" sz="1600">
              <a:solidFill>
                <a:srgbClr val="00074E"/>
              </a:solidFill>
              <a:latin typeface="Pretendard SemiBold"/>
              <a:ea typeface="Pretendard SemiBold"/>
              <a:cs typeface="+mn-lt"/>
            </a:endParaRPr>
          </a:p>
          <a:p>
            <a:pPr>
              <a:lnSpc>
                <a:spcPct val="99600"/>
              </a:lnSpc>
            </a:pPr>
            <a:endParaRPr lang="ko-KR" altLang="en-US" sz="1600">
              <a:solidFill>
                <a:srgbClr val="00074E"/>
              </a:solidFill>
              <a:latin typeface="Pretendard SemiBold"/>
              <a:ea typeface="Pretendard SemiBold"/>
            </a:endParaRPr>
          </a:p>
          <a:p>
            <a:pPr>
              <a:lnSpc>
                <a:spcPct val="99600"/>
              </a:lnSpc>
            </a:pPr>
            <a:endParaRPr lang="ko-KR" altLang="en-US" sz="1600">
              <a:solidFill>
                <a:srgbClr val="00074E"/>
              </a:solidFill>
              <a:latin typeface="Pretendard SemiBold"/>
              <a:ea typeface="Pretendard SemiBold"/>
            </a:endParaRPr>
          </a:p>
          <a:p>
            <a:pPr>
              <a:lnSpc>
                <a:spcPct val="99600"/>
              </a:lnSpc>
            </a:pPr>
            <a:endParaRPr lang="ko-KR" altLang="en-US" sz="1600">
              <a:solidFill>
                <a:srgbClr val="00074E"/>
              </a:solidFill>
              <a:latin typeface="Pretendard SemiBold"/>
              <a:ea typeface="Pretendard SemiBold"/>
            </a:endParaRPr>
          </a:p>
          <a:p>
            <a:pPr>
              <a:lnSpc>
                <a:spcPct val="99600"/>
              </a:lnSpc>
            </a:pPr>
            <a:endParaRPr lang="ko-KR" altLang="en-US" sz="1600">
              <a:solidFill>
                <a:srgbClr val="00074E"/>
              </a:solidFill>
              <a:latin typeface="Pretendard SemiBold"/>
              <a:ea typeface="Pretendard SemiBold"/>
            </a:endParaRPr>
          </a:p>
        </p:txBody>
      </p:sp>
      <p:pic>
        <p:nvPicPr>
          <p:cNvPr id="17" name="그림 16" descr="도표, 스크린샷, 직사각형, 텍스트이(가) 표시된 사진&#10;&#10;자동 생성된 설명">
            <a:extLst>
              <a:ext uri="{FF2B5EF4-FFF2-40B4-BE49-F238E27FC236}">
                <a16:creationId xmlns:a16="http://schemas.microsoft.com/office/drawing/2014/main" id="{79ADB516-2649-9568-6CA5-87DD7C51000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73609" y="6746310"/>
            <a:ext cx="4547113" cy="1974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6992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5143500"/>
            <a:ext cx="18300700" cy="5168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" y="571500"/>
            <a:ext cx="17043400" cy="9144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01700" y="419100"/>
            <a:ext cx="2832100" cy="14986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3995400" y="787400"/>
            <a:ext cx="2044700" cy="647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7899"/>
              </a:lnSpc>
            </a:pPr>
            <a:r>
              <a:rPr lang="ko-KR" sz="1900" b="0" i="0" u="none" strike="noStrike" spc="100">
                <a:solidFill>
                  <a:srgbClr val="FFFFFF"/>
                </a:solidFill>
                <a:ea typeface="Pretendard Medium"/>
              </a:rPr>
              <a:t>미니프로젝트</a:t>
            </a:r>
          </a:p>
          <a:p>
            <a:pPr lvl="0" algn="ctr">
              <a:lnSpc>
                <a:spcPct val="107899"/>
              </a:lnSpc>
            </a:pPr>
            <a:r>
              <a:rPr lang="en-US" sz="1900" b="0" i="0" u="none" strike="noStrike" spc="100">
                <a:solidFill>
                  <a:srgbClr val="FFFFFF"/>
                </a:solidFill>
                <a:latin typeface="Pretendard Medium"/>
              </a:rPr>
              <a:t>6</a:t>
            </a:r>
            <a:r>
              <a:rPr lang="ko-KR" sz="1900" b="0" i="0" u="none" strike="noStrike" spc="100">
                <a:solidFill>
                  <a:srgbClr val="FFFFFF"/>
                </a:solidFill>
                <a:ea typeface="Pretendard Medium"/>
              </a:rPr>
              <a:t>차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965568" y="3797300"/>
            <a:ext cx="6362700" cy="189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1300"/>
              </a:lnSpc>
            </a:pPr>
            <a:r>
              <a:rPr lang="ko-KR" sz="10600" b="0" i="0" u="none" strike="noStrike">
                <a:solidFill>
                  <a:srgbClr val="00074E"/>
                </a:solidFill>
                <a:ea typeface="Pretendard SemiBold"/>
              </a:rPr>
              <a:t>감사합니다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8" name="TextBox 8"/>
          <p:cNvSpPr txBox="1"/>
          <p:nvPr/>
        </p:nvSpPr>
        <p:spPr>
          <a:xfrm>
            <a:off x="7706841" y="7194378"/>
            <a:ext cx="5181391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>
              <a:lnSpc>
                <a:spcPct val="99600"/>
              </a:lnSpc>
            </a:pPr>
            <a:r>
              <a:rPr lang="en-US" altLang="ko-KR" sz="3000">
                <a:solidFill>
                  <a:srgbClr val="00074E"/>
                </a:solidFill>
                <a:latin typeface="Pretendard SemiBold"/>
                <a:ea typeface="맑은 고딕"/>
                <a:cs typeface="Calibri"/>
              </a:rPr>
              <a:t>AI</a:t>
            </a:r>
            <a:r>
              <a:rPr lang="ko-KR" altLang="ko-KR" sz="3000">
                <a:solidFill>
                  <a:srgbClr val="00074E"/>
                </a:solidFill>
                <a:latin typeface="Pretendard SemiBold"/>
                <a:ea typeface="Pretendard SemiBold"/>
                <a:cs typeface="Calibri"/>
              </a:rPr>
              <a:t>트랙</a:t>
            </a:r>
            <a:r>
              <a:rPr lang="en-US" sz="3000" b="0" i="0" u="none" strike="noStrike">
                <a:solidFill>
                  <a:srgbClr val="00074E"/>
                </a:solidFill>
                <a:latin typeface="Pretendard SemiBold"/>
              </a:rPr>
              <a:t> 3</a:t>
            </a:r>
            <a:r>
              <a:rPr lang="ko-KR" sz="3000" b="0" i="0" u="none" strike="noStrike">
                <a:solidFill>
                  <a:srgbClr val="00074E"/>
                </a:solidFill>
                <a:latin typeface="Pretendard SemiBold"/>
                <a:ea typeface="Pretendard SemiBold"/>
              </a:rPr>
              <a:t>반</a:t>
            </a:r>
            <a:r>
              <a:rPr lang="en-US" sz="3000" b="0" i="0" u="none" strike="noStrike">
                <a:solidFill>
                  <a:srgbClr val="00074E"/>
                </a:solidFill>
                <a:latin typeface="Pretendard SemiBold"/>
              </a:rPr>
              <a:t> 9</a:t>
            </a:r>
            <a:r>
              <a:rPr lang="ko-KR" sz="3000" b="0" i="0" u="none" strike="noStrike">
                <a:solidFill>
                  <a:srgbClr val="00074E"/>
                </a:solidFill>
                <a:latin typeface="Pretendard SemiBold"/>
                <a:ea typeface="Pretendard SemiBold"/>
              </a:rPr>
              <a:t>조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654035" y="7810500"/>
            <a:ext cx="95377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2900" b="0" i="0" u="none" strike="noStrike">
                <a:solidFill>
                  <a:srgbClr val="8F9CD1"/>
                </a:solidFill>
                <a:ea typeface="Pretendard SemiBold"/>
              </a:rPr>
              <a:t>김기태</a:t>
            </a:r>
            <a:r>
              <a:rPr lang="en-US" sz="2900" b="0" i="0" u="none" strike="noStrike">
                <a:solidFill>
                  <a:srgbClr val="8F9CD1"/>
                </a:solidFill>
                <a:latin typeface="Pretendard SemiBold"/>
              </a:rPr>
              <a:t>, </a:t>
            </a:r>
            <a:r>
              <a:rPr lang="ko-KR" sz="2900" b="0" i="0" u="none" strike="noStrike">
                <a:solidFill>
                  <a:srgbClr val="8F9CD1"/>
                </a:solidFill>
                <a:ea typeface="Pretendard SemiBold"/>
              </a:rPr>
              <a:t>김선우</a:t>
            </a:r>
            <a:r>
              <a:rPr lang="en-US" sz="2900" b="0" i="0" u="none" strike="noStrike">
                <a:solidFill>
                  <a:srgbClr val="8F9CD1"/>
                </a:solidFill>
                <a:latin typeface="Pretendard SemiBold"/>
              </a:rPr>
              <a:t>, </a:t>
            </a:r>
            <a:r>
              <a:rPr lang="ko-KR" sz="2900" b="0" i="0" u="none" strike="noStrike">
                <a:solidFill>
                  <a:srgbClr val="8F9CD1"/>
                </a:solidFill>
                <a:ea typeface="Pretendard SemiBold"/>
              </a:rPr>
              <a:t>김우현</a:t>
            </a:r>
            <a:r>
              <a:rPr lang="en-US" sz="2900" b="0" i="0" u="none" strike="noStrike">
                <a:solidFill>
                  <a:srgbClr val="8F9CD1"/>
                </a:solidFill>
                <a:latin typeface="Pretendard SemiBold"/>
              </a:rPr>
              <a:t>, </a:t>
            </a:r>
            <a:r>
              <a:rPr lang="ko-KR" sz="2900" b="0" i="0" u="none" strike="noStrike">
                <a:solidFill>
                  <a:srgbClr val="8F9CD1"/>
                </a:solidFill>
                <a:ea typeface="Pretendard SemiBold"/>
              </a:rPr>
              <a:t>김준영</a:t>
            </a:r>
            <a:r>
              <a:rPr lang="en-US" sz="2900" b="0" i="0" u="none" strike="noStrike">
                <a:solidFill>
                  <a:srgbClr val="8F9CD1"/>
                </a:solidFill>
                <a:latin typeface="Pretendard SemiBold"/>
              </a:rPr>
              <a:t>, </a:t>
            </a:r>
            <a:r>
              <a:rPr lang="ko-KR" sz="2900" b="0" i="0" u="none" strike="noStrike">
                <a:solidFill>
                  <a:srgbClr val="8F9CD1"/>
                </a:solidFill>
                <a:ea typeface="Pretendard SemiBold"/>
              </a:rPr>
              <a:t>김진규</a:t>
            </a:r>
            <a:r>
              <a:rPr lang="en-US" sz="2900" b="0" i="0" u="none" strike="noStrike">
                <a:solidFill>
                  <a:srgbClr val="8F9CD1"/>
                </a:solidFill>
                <a:latin typeface="Pretendard SemiBold"/>
              </a:rPr>
              <a:t>, </a:t>
            </a:r>
            <a:r>
              <a:rPr lang="ko-KR" sz="2900" b="0" i="0" u="none" strike="noStrike">
                <a:solidFill>
                  <a:srgbClr val="8F9CD1"/>
                </a:solidFill>
                <a:ea typeface="Pretendard SemiBold"/>
              </a:rPr>
              <a:t>성연서</a:t>
            </a:r>
            <a:r>
              <a:rPr lang="en-US" sz="2900" b="0" i="0" u="none" strike="noStrike">
                <a:solidFill>
                  <a:srgbClr val="8F9CD1"/>
                </a:solidFill>
                <a:latin typeface="Pretendard SemiBold"/>
              </a:rPr>
              <a:t>, </a:t>
            </a:r>
            <a:r>
              <a:rPr lang="ko-KR" sz="2900" b="0" i="0" u="none" strike="noStrike">
                <a:solidFill>
                  <a:srgbClr val="8F9CD1"/>
                </a:solidFill>
                <a:ea typeface="Pretendard SemiBold"/>
              </a:rPr>
              <a:t>신광훈</a:t>
            </a:r>
            <a:r>
              <a:rPr lang="en-US" sz="2900" b="0" i="0" u="none" strike="noStrike">
                <a:solidFill>
                  <a:srgbClr val="8F9CD1"/>
                </a:solidFill>
                <a:latin typeface="Pretendard SemiBold"/>
              </a:rPr>
              <a:t>, </a:t>
            </a:r>
            <a:r>
              <a:rPr lang="ko-KR" sz="2900" b="0" i="0" u="none" strike="noStrike">
                <a:solidFill>
                  <a:srgbClr val="8F9CD1"/>
                </a:solidFill>
                <a:ea typeface="Pretendard SemiBold"/>
              </a:rPr>
              <a:t>이예주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사용자 지정</PresentationFormat>
  <Slides>6</Slides>
  <Notes>0</Notes>
  <HiddenSlides>0</HiddenSlide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7" baseType="lpstr"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2</cp:revision>
  <dcterms:created xsi:type="dcterms:W3CDTF">2006-08-16T00:00:00Z</dcterms:created>
  <dcterms:modified xsi:type="dcterms:W3CDTF">2024-11-15T06:15:54Z</dcterms:modified>
</cp:coreProperties>
</file>