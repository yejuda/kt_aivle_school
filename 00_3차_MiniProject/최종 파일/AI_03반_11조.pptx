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retendard Black" panose="020B0600000101010101" charset="-127"/>
      <p:bold r:id="rId8"/>
    </p:embeddedFont>
    <p:embeddedFont>
      <p:font typeface="Pretendard Medium" panose="020B0600000101010101" charset="-127"/>
      <p:bold r:id="rId9"/>
    </p:embeddedFont>
    <p:embeddedFont>
      <p:font typeface="Pretendard SemiBold" panose="020B0600000101010101" charset="-127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microsoft.com/office/2007/relationships/media" Target="../media/media1.mp4"/><Relationship Id="rId16" Type="http://schemas.openxmlformats.org/officeDocument/2006/relationships/image" Target="../media/image20.png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11" Type="http://schemas.openxmlformats.org/officeDocument/2006/relationships/image" Target="../media/image15.png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microsoft.com/office/2007/relationships/media" Target="../media/media3.mp4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191000" y="5130800"/>
            <a:ext cx="106172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>
            <a:off x="876300" y="0"/>
            <a:ext cx="4584700" cy="6819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864100"/>
            <a:ext cx="8458200" cy="5422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 rot="5400000">
            <a:off x="-863600" y="8343900"/>
            <a:ext cx="28448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78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Medium"/>
              </a:rPr>
              <a:t>Mini Project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7600" y="8432800"/>
            <a:ext cx="165227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800" b="0" i="0" u="none" strike="noStrike" spc="200">
                <a:solidFill>
                  <a:srgbClr val="000000"/>
                </a:solidFill>
                <a:latin typeface="Pretendard Black"/>
              </a:rPr>
              <a:t>AI 11</a:t>
            </a:r>
            <a:r>
              <a:rPr lang="ko-KR" sz="2800" b="0" i="0" u="none" strike="noStrike" spc="200">
                <a:solidFill>
                  <a:srgbClr val="000000"/>
                </a:solidFill>
                <a:ea typeface="Pretendard Black"/>
              </a:rPr>
              <a:t>조</a:t>
            </a:r>
            <a:r>
              <a:rPr lang="en-US" sz="2800" b="0" i="0" u="none" strike="noStrike" spc="200">
                <a:solidFill>
                  <a:srgbClr val="000000"/>
                </a:solidFill>
                <a:latin typeface="Pretendard Black"/>
              </a:rPr>
              <a:t>  </a:t>
            </a:r>
            <a:r>
              <a:rPr lang="en-US" sz="2800" b="0" i="0" u="none" strike="noStrike" spc="200">
                <a:solidFill>
                  <a:srgbClr val="C2C2C2"/>
                </a:solidFill>
                <a:latin typeface="Pretendard Black"/>
              </a:rPr>
              <a:t>|</a:t>
            </a:r>
            <a:r>
              <a:rPr lang="en-US" sz="2800" b="0" i="0" u="none" strike="noStrike" spc="200">
                <a:solidFill>
                  <a:srgbClr val="000000"/>
                </a:solidFill>
                <a:latin typeface="Pretendard Black"/>
              </a:rPr>
              <a:t>  </a:t>
            </a:r>
            <a:r>
              <a:rPr lang="ko-KR" sz="2800" b="0" i="0" u="none" strike="noStrike" spc="200">
                <a:solidFill>
                  <a:srgbClr val="000000"/>
                </a:solidFill>
                <a:ea typeface="Pretendard Black"/>
              </a:rPr>
              <a:t>김준영</a:t>
            </a:r>
            <a:r>
              <a:rPr lang="en-US" sz="2800" b="0" i="0" u="none" strike="noStrike" spc="200">
                <a:solidFill>
                  <a:srgbClr val="000000"/>
                </a:solidFill>
                <a:latin typeface="Pretendard Black"/>
              </a:rPr>
              <a:t>, </a:t>
            </a:r>
            <a:r>
              <a:rPr lang="ko-KR" sz="2800" b="0" i="0" u="none" strike="noStrike" spc="200">
                <a:solidFill>
                  <a:srgbClr val="000000"/>
                </a:solidFill>
                <a:ea typeface="Pretendard Black"/>
              </a:rPr>
              <a:t>강해찬</a:t>
            </a:r>
            <a:r>
              <a:rPr lang="en-US" sz="2800" b="0" i="0" u="none" strike="noStrike" spc="200">
                <a:solidFill>
                  <a:srgbClr val="000000"/>
                </a:solidFill>
                <a:latin typeface="Pretendard Black"/>
              </a:rPr>
              <a:t>, </a:t>
            </a:r>
            <a:r>
              <a:rPr lang="ko-KR" sz="2800" b="0" i="0" u="none" strike="noStrike" spc="200">
                <a:solidFill>
                  <a:srgbClr val="000000"/>
                </a:solidFill>
                <a:ea typeface="Pretendard Black"/>
              </a:rPr>
              <a:t>김진하</a:t>
            </a:r>
            <a:r>
              <a:rPr lang="en-US" sz="2800" b="0" i="0" u="none" strike="noStrike" spc="200">
                <a:solidFill>
                  <a:srgbClr val="000000"/>
                </a:solidFill>
                <a:latin typeface="Pretendard Black"/>
              </a:rPr>
              <a:t>, </a:t>
            </a:r>
            <a:r>
              <a:rPr lang="ko-KR" sz="2800" b="0" i="0" u="none" strike="noStrike" spc="200">
                <a:solidFill>
                  <a:srgbClr val="000000"/>
                </a:solidFill>
                <a:ea typeface="Pretendard Black"/>
              </a:rPr>
              <a:t>박지혁</a:t>
            </a:r>
            <a:r>
              <a:rPr lang="en-US" sz="2800" b="0" i="0" u="none" strike="noStrike" spc="200">
                <a:solidFill>
                  <a:srgbClr val="000000"/>
                </a:solidFill>
                <a:latin typeface="Pretendard Black"/>
              </a:rPr>
              <a:t>, </a:t>
            </a:r>
            <a:r>
              <a:rPr lang="ko-KR" sz="2800" b="0" i="0" u="none" strike="noStrike" spc="200">
                <a:solidFill>
                  <a:srgbClr val="000000"/>
                </a:solidFill>
                <a:ea typeface="Pretendard Black"/>
              </a:rPr>
              <a:t>심용훈</a:t>
            </a:r>
            <a:r>
              <a:rPr lang="en-US" sz="2800" b="0" i="0" u="none" strike="noStrike" spc="200">
                <a:solidFill>
                  <a:srgbClr val="000000"/>
                </a:solidFill>
                <a:latin typeface="Pretendard Black"/>
              </a:rPr>
              <a:t>, </a:t>
            </a:r>
            <a:r>
              <a:rPr lang="ko-KR" sz="2800" b="0" i="0" u="none" strike="noStrike" spc="200">
                <a:solidFill>
                  <a:srgbClr val="000000"/>
                </a:solidFill>
                <a:ea typeface="Pretendard Black"/>
              </a:rPr>
              <a:t>이예주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1400" y="3238500"/>
            <a:ext cx="166751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sz="7700" b="0" i="0" u="none" strike="noStrike" spc="1500" dirty="0">
                <a:solidFill>
                  <a:srgbClr val="000000"/>
                </a:solidFill>
                <a:ea typeface="Pretendard Black"/>
              </a:rPr>
              <a:t>스마트폰</a:t>
            </a:r>
            <a:r>
              <a:rPr lang="en-US" sz="7700" b="0" i="0" u="none" strike="noStrike" spc="1500" dirty="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7700" b="0" i="0" u="none" strike="noStrike" spc="1500" dirty="0">
                <a:solidFill>
                  <a:srgbClr val="000000"/>
                </a:solidFill>
                <a:ea typeface="Pretendard Black"/>
              </a:rPr>
              <a:t>센서</a:t>
            </a:r>
            <a:r>
              <a:rPr lang="en-US" sz="7700" b="0" i="0" u="none" strike="noStrike" spc="1500" dirty="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7700" b="0" i="0" u="none" strike="noStrike" spc="1500" dirty="0">
                <a:solidFill>
                  <a:srgbClr val="000000"/>
                </a:solidFill>
                <a:ea typeface="Pretendard Black"/>
              </a:rPr>
              <a:t>기반</a:t>
            </a:r>
            <a:r>
              <a:rPr lang="en-US" sz="7700" b="0" i="0" u="none" strike="noStrike" spc="1500" dirty="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7700" b="0" i="0" u="none" strike="noStrike" spc="1500" dirty="0">
                <a:solidFill>
                  <a:srgbClr val="000000"/>
                </a:solidFill>
                <a:ea typeface="Pretendard Black"/>
              </a:rPr>
              <a:t>데이터를</a:t>
            </a:r>
          </a:p>
          <a:p>
            <a:pPr lvl="0" algn="ctr">
              <a:lnSpc>
                <a:spcPct val="107899"/>
              </a:lnSpc>
            </a:pPr>
            <a:r>
              <a:rPr lang="en-US" sz="7700" b="0" i="0" u="none" strike="noStrike" spc="1500" dirty="0">
                <a:solidFill>
                  <a:srgbClr val="000000"/>
                </a:solidFill>
                <a:latin typeface="Pretendard Black"/>
              </a:rPr>
              <a:t> </a:t>
            </a:r>
            <a:r>
              <a:rPr lang="ko-KR" sz="7700" b="0" i="0" u="none" strike="noStrike" spc="1500" dirty="0">
                <a:solidFill>
                  <a:srgbClr val="000000"/>
                </a:solidFill>
                <a:ea typeface="Pretendard Black"/>
              </a:rPr>
              <a:t>활용한</a:t>
            </a:r>
            <a:r>
              <a:rPr lang="en-US" sz="7700" b="0" i="0" u="none" strike="noStrike" spc="1500" dirty="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7700" b="0" i="0" u="none" strike="noStrike" spc="1500" dirty="0">
                <a:solidFill>
                  <a:srgbClr val="000000"/>
                </a:solidFill>
                <a:ea typeface="Pretendard Black"/>
              </a:rPr>
              <a:t>행동</a:t>
            </a:r>
            <a:r>
              <a:rPr lang="en-US" sz="7700" b="0" i="0" u="none" strike="noStrike" spc="1500" dirty="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7700" b="0" i="0" u="none" strike="noStrike" spc="1500" dirty="0">
                <a:solidFill>
                  <a:srgbClr val="000000"/>
                </a:solidFill>
                <a:ea typeface="Pretendard Black"/>
              </a:rPr>
              <a:t>인식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191000" y="5130800"/>
            <a:ext cx="10617200" cy="25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27200" y="444500"/>
            <a:ext cx="14224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목차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4737100" y="5740400"/>
            <a:ext cx="2387600" cy="1079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064500" y="3467100"/>
            <a:ext cx="2387600" cy="1079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11391900" y="5740400"/>
            <a:ext cx="2387600" cy="1079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1300" y="4597400"/>
            <a:ext cx="2971800" cy="102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700" y="4597400"/>
            <a:ext cx="2971800" cy="1028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100" y="4597400"/>
            <a:ext cx="2971800" cy="1028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3500" y="4597400"/>
            <a:ext cx="2971800" cy="1028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416300" y="4889500"/>
            <a:ext cx="1714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ko-KR" sz="2600" b="0" i="0" u="none" strike="noStrike">
                <a:solidFill>
                  <a:srgbClr val="FFFFFF"/>
                </a:solidFill>
                <a:ea typeface="S-Core Dream 6 Bold"/>
              </a:rPr>
              <a:t>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67500" y="4699000"/>
            <a:ext cx="20066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S-Core Dream 6 Bold"/>
              </a:rPr>
              <a:t>1</a:t>
            </a:r>
            <a:r>
              <a:rPr lang="ko-KR" sz="2600" b="0" i="0" u="none" strike="noStrike">
                <a:solidFill>
                  <a:srgbClr val="FFFFFF"/>
                </a:solidFill>
                <a:ea typeface="S-Core Dream 6 Bold"/>
              </a:rPr>
              <a:t>차</a:t>
            </a:r>
            <a:r>
              <a:rPr lang="en-US" sz="2600" b="0" i="0" u="none" strike="noStrike">
                <a:solidFill>
                  <a:srgbClr val="FFFFFF"/>
                </a:solidFill>
                <a:latin typeface="S-Core Dream 6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S-Core Dream 6 Bold"/>
              </a:rPr>
              <a:t>모델링</a:t>
            </a:r>
            <a:r>
              <a:rPr lang="en-US" sz="2600" b="0" i="0" u="none" strike="noStrike">
                <a:solidFill>
                  <a:srgbClr val="FFFFFF"/>
                </a:solidFill>
                <a:latin typeface="S-Core Dream 6 Bold"/>
              </a:rPr>
              <a:t>  &amp; </a:t>
            </a:r>
            <a:r>
              <a:rPr lang="ko-KR" sz="2600" b="0" i="0" u="none" strike="noStrike">
                <a:solidFill>
                  <a:srgbClr val="FFFFFF"/>
                </a:solidFill>
                <a:ea typeface="S-Core Dream 6 Bold"/>
              </a:rPr>
              <a:t>인사이트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6500" y="4699000"/>
            <a:ext cx="17145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S-Core Dream 6 Bold"/>
              </a:rPr>
              <a:t>2</a:t>
            </a:r>
            <a:r>
              <a:rPr lang="ko-KR" sz="2600" b="0" i="0" u="none" strike="noStrike">
                <a:solidFill>
                  <a:srgbClr val="FFFFFF"/>
                </a:solidFill>
                <a:ea typeface="S-Core Dream 6 Bold"/>
              </a:rPr>
              <a:t>차</a:t>
            </a:r>
            <a:r>
              <a:rPr lang="en-US" sz="2600" b="0" i="0" u="none" strike="noStrike">
                <a:solidFill>
                  <a:srgbClr val="FFFFFF"/>
                </a:solidFill>
                <a:latin typeface="S-Core Dream 6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S-Core Dream 6 Bold"/>
              </a:rPr>
              <a:t>모델링</a:t>
            </a:r>
            <a:r>
              <a:rPr lang="en-US" sz="2600" b="0" i="0" u="none" strike="noStrike">
                <a:solidFill>
                  <a:srgbClr val="FFFFFF"/>
                </a:solidFill>
                <a:latin typeface="S-Core Dream 6 Bold"/>
              </a:rPr>
              <a:t> &amp; </a:t>
            </a:r>
            <a:r>
              <a:rPr lang="ko-KR" sz="2600" b="0" i="0" u="none" strike="noStrike">
                <a:solidFill>
                  <a:srgbClr val="FFFFFF"/>
                </a:solidFill>
                <a:ea typeface="S-Core Dream 6 Bold"/>
              </a:rPr>
              <a:t>인사이트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85800" y="4889500"/>
            <a:ext cx="17780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ko-KR" sz="2600" b="0" i="0" u="none" strike="noStrike">
                <a:solidFill>
                  <a:srgbClr val="FFFFFF"/>
                </a:solidFill>
                <a:ea typeface="S-Core Dream 6 Bold"/>
              </a:rPr>
              <a:t>연계</a:t>
            </a:r>
            <a:r>
              <a:rPr lang="en-US" sz="2600" b="0" i="0" u="none" strike="noStrike">
                <a:solidFill>
                  <a:srgbClr val="FFFFFF"/>
                </a:solidFill>
                <a:latin typeface="S-Core Dream 6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S-Core Dream 6 Bold"/>
              </a:rPr>
              <a:t>서비스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800" y="6692900"/>
            <a:ext cx="571500" cy="431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06300" y="6781800"/>
            <a:ext cx="596900" cy="355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7000" y="3175000"/>
            <a:ext cx="431800" cy="3556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 rot="5400000">
            <a:off x="-863600" y="8343900"/>
            <a:ext cx="28448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78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Medium"/>
              </a:rPr>
              <a:t>Mini Project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143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4191000" y="5130800"/>
            <a:ext cx="10617200" cy="254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0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2425700"/>
            <a:ext cx="9321800" cy="3289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0"/>
            <a:ext cx="3009900" cy="237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68200" y="0"/>
            <a:ext cx="3022600" cy="237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430500" y="0"/>
            <a:ext cx="3035300" cy="2374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0600" y="2438400"/>
            <a:ext cx="3098800" cy="2336800"/>
          </a:xfrm>
          <a:prstGeom prst="rect">
            <a:avLst/>
          </a:prstGeom>
        </p:spPr>
      </p:pic>
      <p:pic>
        <p:nvPicPr>
          <p:cNvPr id="10" name="Picture 1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242800" y="6096000"/>
            <a:ext cx="3048000" cy="3048000"/>
          </a:xfrm>
          <a:prstGeom prst="rect">
            <a:avLst/>
          </a:prstGeom>
        </p:spPr>
      </p:pic>
      <p:pic>
        <p:nvPicPr>
          <p:cNvPr id="11" name="Picture 11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3">
                  <p14:trim/>
                </p14:media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9137650" y="6083300"/>
            <a:ext cx="2971800" cy="2971800"/>
          </a:xfrm>
          <a:prstGeom prst="rect">
            <a:avLst/>
          </a:prstGeom>
        </p:spPr>
      </p:pic>
      <p:pic>
        <p:nvPicPr>
          <p:cNvPr id="12" name="Picture 1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4">
                  <p14:trim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5430500" y="6096000"/>
            <a:ext cx="2908300" cy="29083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20900" y="6553200"/>
            <a:ext cx="2006600" cy="2006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22500" y="6972300"/>
            <a:ext cx="1803400" cy="132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159000" y="6083300"/>
            <a:ext cx="19304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2800" b="1" i="0" u="none" strike="noStrike">
                <a:solidFill>
                  <a:srgbClr val="000000"/>
                </a:solidFill>
                <a:ea typeface="Pretendard Medium"/>
              </a:rPr>
              <a:t>가속도</a:t>
            </a:r>
            <a:r>
              <a:rPr lang="en-US" sz="28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Medium"/>
              </a:rPr>
              <a:t>센서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2400" y="8801100"/>
            <a:ext cx="36830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000" b="1" i="0" u="none" strike="noStrike">
                <a:solidFill>
                  <a:srgbClr val="FC5230"/>
                </a:solidFill>
                <a:latin typeface="Pretendard Medium"/>
              </a:rPr>
              <a:t>X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,</a:t>
            </a:r>
            <a:r>
              <a:rPr lang="en-US" sz="2000" b="0" i="0" u="none" strike="noStrike">
                <a:solidFill>
                  <a:srgbClr val="456E2A"/>
                </a:solidFill>
                <a:latin typeface="Pretendard Medium"/>
              </a:rPr>
              <a:t>Y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,</a:t>
            </a:r>
            <a:r>
              <a:rPr lang="en-US" sz="2000" b="0" i="0" u="none" strike="noStrike">
                <a:solidFill>
                  <a:srgbClr val="1187CF"/>
                </a:solidFill>
                <a:latin typeface="Pretendard Medium"/>
              </a:rPr>
              <a:t>Z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축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움직임의</a:t>
            </a:r>
            <a:r>
              <a:rPr lang="en-US" sz="2000" b="0" i="0" u="none" strike="noStrike">
                <a:solidFill>
                  <a:srgbClr val="FC5230"/>
                </a:solidFill>
                <a:latin typeface="Pretendard Medium"/>
              </a:rPr>
              <a:t> </a:t>
            </a:r>
            <a:r>
              <a:rPr lang="ko-KR" sz="2000" b="1" i="0" u="sng" strike="noStrike">
                <a:solidFill>
                  <a:srgbClr val="FC5230"/>
                </a:solidFill>
                <a:ea typeface="Pretendard Medium"/>
              </a:rPr>
              <a:t>선형</a:t>
            </a:r>
            <a:r>
              <a:rPr lang="en-US" sz="2000" b="1" i="0" u="sng" strike="noStrike">
                <a:solidFill>
                  <a:srgbClr val="FC5230"/>
                </a:solidFill>
                <a:latin typeface="Pretendard Medium"/>
              </a:rPr>
              <a:t> </a:t>
            </a:r>
            <a:r>
              <a:rPr lang="ko-KR" sz="2000" b="1" i="0" u="sng" strike="noStrike">
                <a:solidFill>
                  <a:srgbClr val="FC5230"/>
                </a:solidFill>
                <a:ea typeface="Pretendard Medium"/>
              </a:rPr>
              <a:t>가속도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측정</a:t>
            </a:r>
          </a:p>
          <a:p>
            <a:pPr lvl="0" algn="ctr">
              <a:lnSpc>
                <a:spcPct val="99600"/>
              </a:lnSpc>
            </a:pPr>
            <a:r>
              <a:rPr lang="ko-KR" sz="2000" b="1" i="1" u="none" strike="noStrike">
                <a:solidFill>
                  <a:srgbClr val="E09CC4"/>
                </a:solidFill>
                <a:ea typeface="Pretendard Medium"/>
              </a:rPr>
              <a:t>얼마나</a:t>
            </a:r>
            <a:r>
              <a:rPr lang="en-US" sz="2000" b="1" i="1" u="none" strike="noStrike">
                <a:solidFill>
                  <a:srgbClr val="E09CC4"/>
                </a:solidFill>
                <a:latin typeface="Pretendard Medium"/>
              </a:rPr>
              <a:t> </a:t>
            </a:r>
            <a:r>
              <a:rPr lang="ko-KR" sz="2000" b="1" i="1" u="none" strike="noStrike">
                <a:solidFill>
                  <a:srgbClr val="E09CC4"/>
                </a:solidFill>
                <a:ea typeface="Pretendard Medium"/>
              </a:rPr>
              <a:t>빠른가</a:t>
            </a:r>
            <a:r>
              <a:rPr lang="en-US" sz="2000" b="1" i="1" u="none" strike="noStrike">
                <a:solidFill>
                  <a:srgbClr val="E09CC4"/>
                </a:solidFill>
                <a:latin typeface="Pretendard Medium"/>
              </a:rPr>
              <a:t>?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56300" y="6591300"/>
            <a:ext cx="1892300" cy="1892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92800" y="6578600"/>
            <a:ext cx="2032000" cy="2032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5511800" y="6057900"/>
            <a:ext cx="2768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2800" b="1" i="0" u="none" strike="noStrike">
                <a:solidFill>
                  <a:srgbClr val="000000"/>
                </a:solidFill>
                <a:ea typeface="Pretendard Medium"/>
              </a:rPr>
              <a:t>자이로스코프</a:t>
            </a:r>
            <a:r>
              <a:rPr lang="en-US" sz="28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Medium"/>
              </a:rPr>
              <a:t>센서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07000" y="8826500"/>
            <a:ext cx="33782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C5230"/>
                </a:solidFill>
                <a:latin typeface="Pretendard Medium"/>
              </a:rPr>
              <a:t>X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,</a:t>
            </a:r>
            <a:r>
              <a:rPr lang="en-US" sz="2000" b="0" i="0" u="none" strike="noStrike">
                <a:solidFill>
                  <a:srgbClr val="1187CF"/>
                </a:solidFill>
                <a:latin typeface="Pretendard Medium"/>
              </a:rPr>
              <a:t>Y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,</a:t>
            </a:r>
            <a:r>
              <a:rPr lang="en-US" sz="2000" b="0" i="0" u="none" strike="noStrike">
                <a:solidFill>
                  <a:srgbClr val="1187CF"/>
                </a:solidFill>
                <a:latin typeface="Pretendard Medium"/>
              </a:rPr>
              <a:t>Z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축으로의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1" i="0" u="sng" strike="noStrike">
                <a:solidFill>
                  <a:srgbClr val="FC5230"/>
                </a:solidFill>
                <a:ea typeface="Pretendard Medium"/>
              </a:rPr>
              <a:t>회전</a:t>
            </a:r>
            <a:r>
              <a:rPr lang="en-US" sz="2000" b="1" i="0" u="sng" strike="noStrike">
                <a:solidFill>
                  <a:srgbClr val="FC5230"/>
                </a:solidFill>
                <a:latin typeface="Pretendard Medium"/>
              </a:rPr>
              <a:t> </a:t>
            </a:r>
            <a:r>
              <a:rPr lang="ko-KR" sz="2000" b="1" i="0" u="sng" strike="noStrike">
                <a:solidFill>
                  <a:srgbClr val="FC5230"/>
                </a:solidFill>
                <a:ea typeface="Pretendard Medium"/>
              </a:rPr>
              <a:t>각속도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측정</a:t>
            </a:r>
          </a:p>
          <a:p>
            <a:pPr lvl="0" algn="ctr">
              <a:lnSpc>
                <a:spcPct val="99600"/>
              </a:lnSpc>
            </a:pPr>
            <a:r>
              <a:rPr lang="ko-KR" sz="2000" b="1" i="1" u="none" strike="noStrike">
                <a:solidFill>
                  <a:srgbClr val="82CBC4"/>
                </a:solidFill>
                <a:ea typeface="Pretendard Medium"/>
              </a:rPr>
              <a:t>얼마나</a:t>
            </a:r>
            <a:r>
              <a:rPr lang="en-US" sz="2000" b="1" i="1" u="none" strike="noStrike">
                <a:solidFill>
                  <a:srgbClr val="82CBC4"/>
                </a:solidFill>
                <a:latin typeface="Pretendard Medium"/>
              </a:rPr>
              <a:t> </a:t>
            </a:r>
            <a:r>
              <a:rPr lang="ko-KR" sz="2000" b="1" i="1" u="none" strike="noStrike">
                <a:solidFill>
                  <a:srgbClr val="82CBC4"/>
                </a:solidFill>
                <a:ea typeface="Pretendard Medium"/>
              </a:rPr>
              <a:t>변했는가</a:t>
            </a:r>
            <a:r>
              <a:rPr lang="en-US" sz="2000" b="1" i="1" u="none" strike="noStrike">
                <a:solidFill>
                  <a:srgbClr val="82CBC4"/>
                </a:solidFill>
                <a:latin typeface="Pretendard Medium"/>
              </a:rPr>
              <a:t>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7000" y="596900"/>
            <a:ext cx="32004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>
                <a:solidFill>
                  <a:srgbClr val="000000"/>
                </a:solidFill>
                <a:ea typeface="Pretendard Black"/>
              </a:rPr>
              <a:t>데이터</a:t>
            </a:r>
            <a:r>
              <a:rPr lang="en-US" sz="4500" b="0" i="0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Black"/>
              </a:rPr>
              <a:t>개요</a:t>
            </a:r>
          </a:p>
        </p:txBody>
      </p:sp>
      <p:sp>
        <p:nvSpPr>
          <p:cNvPr id="24" name="TextBox 24"/>
          <p:cNvSpPr txBox="1"/>
          <p:nvPr/>
        </p:nvSpPr>
        <p:spPr>
          <a:xfrm rot="5400000">
            <a:off x="-863600" y="8343900"/>
            <a:ext cx="28448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78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Medium"/>
              </a:rPr>
              <a:t>Mini Project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191000" y="5130800"/>
            <a:ext cx="10617200" cy="254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1240" y="3556912"/>
            <a:ext cx="1822450" cy="473618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8650" y="4472992"/>
            <a:ext cx="3898900" cy="3881015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9600" y="2781300"/>
            <a:ext cx="5562600" cy="269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3000" y="5599016"/>
            <a:ext cx="3606800" cy="2770283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 rot="5400000">
            <a:off x="-863600" y="8343900"/>
            <a:ext cx="28448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78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Medium"/>
              </a:rPr>
              <a:t>Mini Project 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7200" y="444500"/>
            <a:ext cx="56769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1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모델링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&amp;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인사이트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04700" y="8610600"/>
            <a:ext cx="3606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C5230"/>
                </a:solidFill>
                <a:latin typeface="Pretendard SemiBold"/>
              </a:rPr>
              <a:t>Score Mean : 0.93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97540" y="3837993"/>
            <a:ext cx="54737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500" b="0" i="0" u="none" strike="noStrike" dirty="0">
                <a:solidFill>
                  <a:srgbClr val="000000"/>
                </a:solidFill>
                <a:ea typeface="Pretendard SemiBold"/>
              </a:rPr>
              <a:t>변수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SemiBold"/>
              </a:rPr>
              <a:t>중요도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SemiBold"/>
              </a:rPr>
              <a:t>상위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SemiBold"/>
              </a:rPr>
              <a:t> 20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SemiBold"/>
              </a:rPr>
              <a:t>개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SemiBold"/>
              </a:rPr>
              <a:t>선정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SemiBold"/>
              </a:rPr>
              <a:t>모델링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08600" y="9423400"/>
            <a:ext cx="7759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전체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변수로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모델링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결과보다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성능이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en-US" sz="3100" b="1" i="0" u="none" strike="noStrike">
                <a:solidFill>
                  <a:srgbClr val="567BC4"/>
                </a:solidFill>
                <a:latin typeface="Pretendard SemiBold"/>
              </a:rPr>
              <a:t>5%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낮아짐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24200" y="8610600"/>
            <a:ext cx="3606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C5230"/>
                </a:solidFill>
                <a:latin typeface="Pretendard SemiBold"/>
              </a:rPr>
              <a:t>Score Mean : 0.982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9600" y="2032000"/>
            <a:ext cx="54737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전체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변수</a:t>
            </a: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모델링</a:t>
            </a:r>
          </a:p>
        </p:txBody>
      </p:sp>
      <p:pic>
        <p:nvPicPr>
          <p:cNvPr id="17" name="Picture 6">
            <a:extLst>
              <a:ext uri="{FF2B5EF4-FFF2-40B4-BE49-F238E27FC236}">
                <a16:creationId xmlns:a16="http://schemas.microsoft.com/office/drawing/2014/main" id="{5BA85789-D87A-460A-BF9D-29312471A5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8800" y="1168400"/>
            <a:ext cx="4699000" cy="2057400"/>
          </a:xfrm>
          <a:prstGeom prst="rect">
            <a:avLst/>
          </a:prstGeom>
        </p:spPr>
      </p:pic>
      <p:sp>
        <p:nvSpPr>
          <p:cNvPr id="18" name="TextBox 11">
            <a:extLst>
              <a:ext uri="{FF2B5EF4-FFF2-40B4-BE49-F238E27FC236}">
                <a16:creationId xmlns:a16="http://schemas.microsoft.com/office/drawing/2014/main" id="{D65108E1-0FDA-482B-979C-5DB9E5B5DC96}"/>
              </a:ext>
            </a:extLst>
          </p:cNvPr>
          <p:cNvSpPr txBox="1"/>
          <p:nvPr/>
        </p:nvSpPr>
        <p:spPr>
          <a:xfrm>
            <a:off x="10737850" y="685800"/>
            <a:ext cx="5029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300" b="0" i="0" u="none" strike="noStrike" dirty="0">
                <a:solidFill>
                  <a:srgbClr val="000000"/>
                </a:solidFill>
                <a:ea typeface="Pretendard Medium"/>
              </a:rPr>
              <a:t>오답노트 결과</a:t>
            </a:r>
            <a:endParaRPr lang="ko-KR" sz="2300" b="0" i="0" u="none" strike="noStrike" dirty="0">
              <a:solidFill>
                <a:srgbClr val="000000"/>
              </a:solidFill>
              <a:ea typeface="Pretendard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191000" y="5130800"/>
            <a:ext cx="10617200" cy="25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 rot="5400000">
            <a:off x="-863600" y="8343900"/>
            <a:ext cx="28448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78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Medium"/>
              </a:rPr>
              <a:t>Mini Project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76400" y="444500"/>
            <a:ext cx="52324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2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모델링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&amp;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인사이트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875" y="7812032"/>
            <a:ext cx="5232400" cy="1960964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875" y="4171940"/>
            <a:ext cx="4805344" cy="319798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0251" y="4171941"/>
            <a:ext cx="5416550" cy="3197988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0250" y="7812032"/>
            <a:ext cx="5897925" cy="2151118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02410" y="3746500"/>
            <a:ext cx="5029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0" b="0" i="0" u="none" strike="noStrike" dirty="0">
                <a:solidFill>
                  <a:srgbClr val="000000"/>
                </a:solidFill>
                <a:latin typeface="Pretendard Medium"/>
              </a:rPr>
              <a:t>Laying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Medium"/>
              </a:rPr>
              <a:t>범주</a:t>
            </a:r>
            <a:r>
              <a:rPr lang="en-US" sz="23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Medium"/>
              </a:rPr>
              <a:t>모델링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80250" y="3729872"/>
            <a:ext cx="5029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0" b="0" i="0" u="none" strike="noStrike" dirty="0">
                <a:solidFill>
                  <a:srgbClr val="000000"/>
                </a:solidFill>
                <a:latin typeface="Pretendard Medium"/>
              </a:rPr>
              <a:t>Sitting, Standing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Medium"/>
              </a:rPr>
              <a:t>범주</a:t>
            </a:r>
            <a:r>
              <a:rPr lang="en-US" sz="23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Medium"/>
              </a:rPr>
              <a:t>모델링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F3270F1-B5C6-472D-9508-A662FD7274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1600" y="343347"/>
            <a:ext cx="8499909" cy="330409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8AE7829-C87B-4E28-A880-1CA1125C87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44550" y="7660839"/>
            <a:ext cx="4565650" cy="2325171"/>
          </a:xfrm>
          <a:prstGeom prst="rect">
            <a:avLst/>
          </a:prstGeom>
        </p:spPr>
      </p:pic>
      <p:sp>
        <p:nvSpPr>
          <p:cNvPr id="18" name="TextBox 11">
            <a:extLst>
              <a:ext uri="{FF2B5EF4-FFF2-40B4-BE49-F238E27FC236}">
                <a16:creationId xmlns:a16="http://schemas.microsoft.com/office/drawing/2014/main" id="{1DEB4A71-BA91-4573-A5D5-19A6016A020B}"/>
              </a:ext>
            </a:extLst>
          </p:cNvPr>
          <p:cNvSpPr txBox="1"/>
          <p:nvPr/>
        </p:nvSpPr>
        <p:spPr>
          <a:xfrm>
            <a:off x="13430250" y="6963527"/>
            <a:ext cx="5029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300" b="0" i="0" u="none" strike="noStrike" dirty="0">
                <a:solidFill>
                  <a:srgbClr val="000000"/>
                </a:solidFill>
                <a:ea typeface="Pretendard Medium"/>
              </a:rPr>
              <a:t>최종 결과</a:t>
            </a:r>
            <a:endParaRPr lang="ko-KR" sz="2300" b="0" i="0" u="none" strike="noStrike" dirty="0">
              <a:solidFill>
                <a:srgbClr val="000000"/>
              </a:solidFill>
              <a:ea typeface="Pretendard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191000" y="5130800"/>
            <a:ext cx="10617200" cy="25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 rot="5400000">
            <a:off x="-863600" y="8343900"/>
            <a:ext cx="28448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78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Medium"/>
              </a:rPr>
              <a:t>Mini Project 3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1028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4648200" y="4483100"/>
            <a:ext cx="1160780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 rot="5400000">
            <a:off x="-863600" y="8343900"/>
            <a:ext cx="28448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78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Medium"/>
              </a:rPr>
              <a:t>Mini Project 3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124700" y="6045200"/>
            <a:ext cx="76962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900" y="1854200"/>
            <a:ext cx="17056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3640" y="3652520"/>
            <a:ext cx="9728200" cy="44323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27200" y="444500"/>
            <a:ext cx="7632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타임스탬프를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활용한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영상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편집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앱</a:t>
            </a:r>
          </a:p>
        </p:txBody>
      </p:sp>
      <p:sp>
        <p:nvSpPr>
          <p:cNvPr id="12" name="TextBox 12"/>
          <p:cNvSpPr txBox="1"/>
          <p:nvPr/>
        </p:nvSpPr>
        <p:spPr>
          <a:xfrm rot="5400000">
            <a:off x="-863600" y="8343900"/>
            <a:ext cx="28448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78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Medium"/>
              </a:rPr>
              <a:t>Mini Project 3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10287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191000" y="5130800"/>
            <a:ext cx="106172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 rot="5400000">
            <a:off x="-863600" y="8343900"/>
            <a:ext cx="28448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78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Medium"/>
              </a:rPr>
              <a:t>Mini Project 3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10287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4648200" y="4483100"/>
            <a:ext cx="11607800" cy="25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 rot="5400000">
            <a:off x="-863600" y="8343900"/>
            <a:ext cx="28448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78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Medium"/>
              </a:rPr>
              <a:t>Mini Project 3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124700" y="6045200"/>
            <a:ext cx="7696200" cy="2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900" y="1854200"/>
            <a:ext cx="170561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49200" y="2324100"/>
            <a:ext cx="3886200" cy="3830226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727200" y="444500"/>
            <a:ext cx="7632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타임스탬프를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활용한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영상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편집</a:t>
            </a:r>
            <a:r>
              <a:rPr lang="en-US" sz="4500" b="0" i="0" u="none" strike="noStrike" spc="-100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4500" b="0" i="0" u="none" strike="noStrike" spc="-100">
                <a:solidFill>
                  <a:srgbClr val="000000"/>
                </a:solidFill>
                <a:ea typeface="Pretendard Black"/>
              </a:rPr>
              <a:t>앱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38075458-012B-4BEA-9A8B-B056E599C4A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430000" y="6470416"/>
            <a:ext cx="60198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스마트워치와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스마트 링에서 수집한 움직임 데이터를 기반으로 특정 스포츠 동작(예: 스매시, 점프) 순간을 감지해, 카메라나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GoPro와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연동하여 자동으로 하이라이트 비디오를 생성하는 앱을 개발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effectLst/>
              </a:rPr>
              <a:t>운동 동호회들을 방문하여 공개되지 않을 멋진 영상을 개인적으로 </a:t>
            </a:r>
            <a:r>
              <a:rPr lang="ko-KR" altLang="en-US" dirty="0" err="1">
                <a:effectLst/>
              </a:rPr>
              <a:t>남겨줄테니</a:t>
            </a:r>
            <a:r>
              <a:rPr lang="ko-KR" altLang="en-US" dirty="0">
                <a:effectLst/>
              </a:rPr>
              <a:t> 동작을 </a:t>
            </a:r>
            <a:r>
              <a:rPr lang="ko-KR" altLang="en-US" dirty="0" err="1">
                <a:effectLst/>
              </a:rPr>
              <a:t>하는동안</a:t>
            </a:r>
            <a:r>
              <a:rPr lang="ko-KR" altLang="en-US" dirty="0">
                <a:effectLst/>
              </a:rPr>
              <a:t> </a:t>
            </a:r>
            <a:r>
              <a:rPr lang="ko-KR" altLang="en-US" dirty="0" err="1">
                <a:effectLst/>
              </a:rPr>
              <a:t>스마트워치를</a:t>
            </a:r>
            <a:r>
              <a:rPr lang="ko-KR" altLang="en-US" dirty="0">
                <a:effectLst/>
              </a:rPr>
              <a:t> 차고 있으라고 하면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찬성하지 않을 사람은 찾기 힘들 것입니다</a:t>
            </a:r>
            <a:r>
              <a:rPr lang="en-US" altLang="ko-KR" dirty="0">
                <a:effectLst/>
              </a:rPr>
              <a:t>.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운동하는 사람들이 번거로운 영상 편집 없이 자동으로 하이라이트를 생성하고 저장할 수 있도록 도와줍니다.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228</Words>
  <Application>Microsoft Office PowerPoint</Application>
  <PresentationFormat>사용자 지정</PresentationFormat>
  <Paragraphs>43</Paragraphs>
  <Slides>6</Slides>
  <Notes>0</Notes>
  <HiddenSlides>0</HiddenSlides>
  <MMClips>3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Pretendard Medium</vt:lpstr>
      <vt:lpstr>Arial</vt:lpstr>
      <vt:lpstr>Pretendard SemiBold</vt:lpstr>
      <vt:lpstr>Pretendard Black</vt:lpstr>
      <vt:lpstr>S-Core Dream 6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김준영</cp:lastModifiedBy>
  <cp:revision>3</cp:revision>
  <dcterms:created xsi:type="dcterms:W3CDTF">2006-08-16T00:00:00Z</dcterms:created>
  <dcterms:modified xsi:type="dcterms:W3CDTF">2024-10-18T06:24:49Z</dcterms:modified>
</cp:coreProperties>
</file>